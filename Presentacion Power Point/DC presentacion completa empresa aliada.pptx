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9144000"/>
  <p:notesSz cx="6858000" cy="9144000"/>
  <p:embeddedFontLst>
    <p:embeddedFont>
      <p:font typeface="Robo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hNubDsvXu1x6nmoKCCJGXSRVIg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italic.fntdata"/><Relationship Id="rId16" Type="http://schemas.openxmlformats.org/officeDocument/2006/relationships/slide" Target="slides/slide11.xml"/><Relationship Id="rId38" Type="http://schemas.openxmlformats.org/officeDocument/2006/relationships/font" Target="fonts/Robo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84c733a1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984c733a10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84c733a1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984c733a10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84c733a1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984c733a10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84c733a1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984c733a10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84c733a1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984c733a10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f970434a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9f970434a2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f970434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9f970434a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f970434a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9f970434a2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f970434a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9f970434a2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f970434a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9f970434a2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fde8d66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9fde8d667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fde8d667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9fde8d6674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fde8d667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9fde8d6674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9fde8d667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9fde8d6674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9fde8d667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9fde8d6674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9fde8d6674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9fde8d6674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fde8d6674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39fde8d6674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fde8d667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g39fde8d6674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9fde8d6674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39fde8d6674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9fde8d6674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39fde8d6674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9fde8d6674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9fde8d6674_0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8.png"/><Relationship Id="rId9"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16.png"/><Relationship Id="rId8" Type="http://schemas.openxmlformats.org/officeDocument/2006/relationships/image" Target="../media/image6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6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21.png"/><Relationship Id="rId6"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24.png"/><Relationship Id="rId6"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1" Type="http://schemas.openxmlformats.org/officeDocument/2006/relationships/image" Target="../media/image39.png"/><Relationship Id="rId10" Type="http://schemas.openxmlformats.org/officeDocument/2006/relationships/image" Target="../media/image47.png"/><Relationship Id="rId13" Type="http://schemas.openxmlformats.org/officeDocument/2006/relationships/image" Target="../media/image32.png"/><Relationship Id="rId12" Type="http://schemas.openxmlformats.org/officeDocument/2006/relationships/image" Target="../media/image34.png"/><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6.png"/><Relationship Id="rId9" Type="http://schemas.openxmlformats.org/officeDocument/2006/relationships/image" Target="../media/image29.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5.png"/></Relationships>
</file>

<file path=ppt/slides/_rels/slide19.xml.rels><?xml version="1.0" encoding="UTF-8" standalone="yes"?><Relationships xmlns="http://schemas.openxmlformats.org/package/2006/relationships"><Relationship Id="rId10" Type="http://schemas.openxmlformats.org/officeDocument/2006/relationships/image" Target="../media/image42.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37.png"/><Relationship Id="rId9" Type="http://schemas.openxmlformats.org/officeDocument/2006/relationships/image" Target="../media/image41.png"/><Relationship Id="rId5" Type="http://schemas.openxmlformats.org/officeDocument/2006/relationships/image" Target="../media/image40.png"/><Relationship Id="rId6" Type="http://schemas.openxmlformats.org/officeDocument/2006/relationships/image" Target="../media/image36.png"/><Relationship Id="rId7" Type="http://schemas.openxmlformats.org/officeDocument/2006/relationships/image" Target="../media/image44.png"/><Relationship Id="rId8" Type="http://schemas.openxmlformats.org/officeDocument/2006/relationships/image" Target="../media/image5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8.png"/><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5.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2.png"/><Relationship Id="rId4" Type="http://schemas.openxmlformats.org/officeDocument/2006/relationships/image" Target="../media/image50.png"/><Relationship Id="rId5" Type="http://schemas.openxmlformats.org/officeDocument/2006/relationships/image" Target="../media/image53.png"/><Relationship Id="rId6" Type="http://schemas.openxmlformats.org/officeDocument/2006/relationships/image" Target="../media/image51.png"/><Relationship Id="rId7" Type="http://schemas.openxmlformats.org/officeDocument/2006/relationships/image" Target="../media/image54.png"/><Relationship Id="rId8" Type="http://schemas.openxmlformats.org/officeDocument/2006/relationships/image" Target="../media/image5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2.png"/><Relationship Id="rId4" Type="http://schemas.openxmlformats.org/officeDocument/2006/relationships/image" Target="../media/image61.png"/><Relationship Id="rId5" Type="http://schemas.openxmlformats.org/officeDocument/2006/relationships/image" Target="../media/image6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2.png"/><Relationship Id="rId4" Type="http://schemas.openxmlformats.org/officeDocument/2006/relationships/image" Target="../media/image61.png"/><Relationship Id="rId5" Type="http://schemas.openxmlformats.org/officeDocument/2006/relationships/image" Target="../media/image6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7.png"/><Relationship Id="rId4" Type="http://schemas.openxmlformats.org/officeDocument/2006/relationships/image" Target="../media/image63.png"/><Relationship Id="rId5"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080"/>
        </a:solid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1448893"/>
            <a:ext cx="7772400" cy="1694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4400"/>
              <a:buFont typeface="Calibri"/>
              <a:buNone/>
            </a:pPr>
            <a:r>
              <a:rPr b="1" lang="en-US" sz="3500">
                <a:solidFill>
                  <a:schemeClr val="lt1"/>
                </a:solidFill>
              </a:rPr>
              <a:t>Proyecto de </a:t>
            </a:r>
            <a:r>
              <a:rPr b="1" lang="en-US" sz="3500">
                <a:solidFill>
                  <a:schemeClr val="lt1"/>
                </a:solidFill>
              </a:rPr>
              <a:t>Ciencia de Datos - </a:t>
            </a:r>
            <a:endParaRPr b="1" sz="3500">
              <a:solidFill>
                <a:schemeClr val="lt1"/>
              </a:solidFill>
            </a:endParaRPr>
          </a:p>
          <a:p>
            <a:pPr indent="0" lvl="0" marL="0" rtl="0" algn="ctr">
              <a:spcBef>
                <a:spcPts val="0"/>
              </a:spcBef>
              <a:spcAft>
                <a:spcPts val="0"/>
              </a:spcAft>
              <a:buClr>
                <a:srgbClr val="008080"/>
              </a:buClr>
              <a:buSzPts val="4400"/>
              <a:buFont typeface="Calibri"/>
              <a:buNone/>
            </a:pPr>
            <a:r>
              <a:rPr b="1" lang="en-US" sz="3500">
                <a:solidFill>
                  <a:schemeClr val="lt1"/>
                </a:solidFill>
              </a:rPr>
              <a:t>Empresa de Tratamiento de Telas</a:t>
            </a:r>
            <a:endParaRPr b="1" sz="3500">
              <a:solidFill>
                <a:schemeClr val="lt1"/>
              </a:solidFill>
            </a:endParaRPr>
          </a:p>
        </p:txBody>
      </p:sp>
      <p:sp>
        <p:nvSpPr>
          <p:cNvPr id="85" name="Google Shape;85;p1"/>
          <p:cNvSpPr txBox="1"/>
          <p:nvPr>
            <p:ph idx="1" type="subTitle"/>
          </p:nvPr>
        </p:nvSpPr>
        <p:spPr>
          <a:xfrm>
            <a:off x="685775" y="2937993"/>
            <a:ext cx="7772400" cy="2482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E73278"/>
              </a:buClr>
              <a:buSzPts val="2000"/>
              <a:buNone/>
            </a:pPr>
            <a:r>
              <a:rPr b="1" lang="en-US" sz="4200">
                <a:solidFill>
                  <a:srgbClr val="F69CDB"/>
                </a:solidFill>
                <a:latin typeface="Georgia"/>
                <a:ea typeface="Georgia"/>
                <a:cs typeface="Georgia"/>
                <a:sym typeface="Georgia"/>
              </a:rPr>
              <a:t>Clustering, Visualización y Predicciones de Ventas</a:t>
            </a:r>
            <a:endParaRPr b="1" sz="4200">
              <a:solidFill>
                <a:srgbClr val="F69CDB"/>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3278"/>
        </a:solidFill>
      </p:bgPr>
    </p:bg>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lang="en-US" sz="4000">
                <a:solidFill>
                  <a:schemeClr val="lt1"/>
                </a:solidFill>
                <a:latin typeface="Georgia"/>
                <a:ea typeface="Georgia"/>
                <a:cs typeface="Georgia"/>
                <a:sym typeface="Georgia"/>
              </a:rPr>
              <a:t>Introducción:</a:t>
            </a:r>
            <a:endParaRPr sz="4000">
              <a:solidFill>
                <a:schemeClr val="lt1"/>
              </a:solidFill>
              <a:latin typeface="Georgia"/>
              <a:ea typeface="Georgia"/>
              <a:cs typeface="Georgia"/>
              <a:sym typeface="Georgia"/>
            </a:endParaRPr>
          </a:p>
        </p:txBody>
      </p:sp>
      <p:sp>
        <p:nvSpPr>
          <p:cNvPr id="91" name="Google Shape;9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ctr">
              <a:lnSpc>
                <a:spcPct val="115000"/>
              </a:lnSpc>
              <a:spcBef>
                <a:spcPts val="0"/>
              </a:spcBef>
              <a:spcAft>
                <a:spcPts val="0"/>
              </a:spcAft>
              <a:buNone/>
            </a:pPr>
            <a:r>
              <a:rPr lang="en-US" sz="1700">
                <a:solidFill>
                  <a:schemeClr val="lt1"/>
                </a:solidFill>
              </a:rPr>
              <a:t>El siguiente proyecto es la aplicación de Ciencia de Datos de manera profunda .</a:t>
            </a:r>
            <a:endParaRPr sz="1700">
              <a:solidFill>
                <a:schemeClr val="lt1"/>
              </a:solidFill>
            </a:endParaRPr>
          </a:p>
          <a:p>
            <a:pPr indent="0" lvl="0" marL="0" rtl="0" algn="ctr">
              <a:lnSpc>
                <a:spcPct val="115000"/>
              </a:lnSpc>
              <a:spcBef>
                <a:spcPts val="0"/>
              </a:spcBef>
              <a:spcAft>
                <a:spcPts val="0"/>
              </a:spcAft>
              <a:buNone/>
            </a:pPr>
            <a:r>
              <a:t/>
            </a:r>
            <a:endParaRPr sz="1700">
              <a:solidFill>
                <a:schemeClr val="lt1"/>
              </a:solidFill>
            </a:endParaRPr>
          </a:p>
          <a:p>
            <a:pPr indent="0" lvl="0" marL="0" rtl="0" algn="ctr">
              <a:lnSpc>
                <a:spcPct val="115000"/>
              </a:lnSpc>
              <a:spcBef>
                <a:spcPts val="0"/>
              </a:spcBef>
              <a:spcAft>
                <a:spcPts val="0"/>
              </a:spcAft>
              <a:buNone/>
            </a:pPr>
            <a:r>
              <a:rPr lang="en-US" sz="1700">
                <a:solidFill>
                  <a:schemeClr val="lt1"/>
                </a:solidFill>
              </a:rPr>
              <a:t>Los datos utilizados, son reales, proporcionados por una empresa de limpiadores y tramatientos para tela y ropas, que van desde cloro, desinfectantes, suavizantes ó tratamientos de color, en diferentes regiones.</a:t>
            </a:r>
            <a:endParaRPr sz="1700">
              <a:solidFill>
                <a:schemeClr val="lt1"/>
              </a:solidFill>
            </a:endParaRPr>
          </a:p>
          <a:p>
            <a:pPr indent="0" lvl="0" marL="0" rtl="0" algn="ctr">
              <a:lnSpc>
                <a:spcPct val="115000"/>
              </a:lnSpc>
              <a:spcBef>
                <a:spcPts val="0"/>
              </a:spcBef>
              <a:spcAft>
                <a:spcPts val="0"/>
              </a:spcAft>
              <a:buNone/>
            </a:pPr>
            <a:r>
              <a:t/>
            </a:r>
            <a:endParaRPr sz="1700">
              <a:solidFill>
                <a:schemeClr val="lt1"/>
              </a:solidFill>
            </a:endParaRPr>
          </a:p>
          <a:p>
            <a:pPr indent="0" lvl="0" marL="0" rtl="0" algn="ctr">
              <a:lnSpc>
                <a:spcPct val="115000"/>
              </a:lnSpc>
              <a:spcBef>
                <a:spcPts val="0"/>
              </a:spcBef>
              <a:spcAft>
                <a:spcPts val="0"/>
              </a:spcAft>
              <a:buNone/>
            </a:pPr>
            <a:r>
              <a:rPr lang="en-US" sz="1700">
                <a:solidFill>
                  <a:schemeClr val="lt1"/>
                </a:solidFill>
              </a:rPr>
              <a:t>Los datos proporcionados forman parte de un Modelado tipo Estrella, que muestran un DataFrame principal con datos de Ventas como, Unidades vendidas, Valor Total de Ventas, etc. Paralelamente se tienen datos de </a:t>
            </a:r>
            <a:r>
              <a:rPr lang="en-US" sz="1700">
                <a:solidFill>
                  <a:schemeClr val="lt1"/>
                </a:solidFill>
              </a:rPr>
              <a:t>Dimensión</a:t>
            </a:r>
            <a:r>
              <a:rPr lang="en-US" sz="1700">
                <a:solidFill>
                  <a:schemeClr val="lt1"/>
                </a:solidFill>
              </a:rPr>
              <a:t> Producto, Dimension Categoria y Segmento, volviendo a éste un DataSet muy completo.</a:t>
            </a:r>
            <a:endParaRPr sz="2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EAEA"/>
        </a:solidFill>
      </p:bgPr>
    </p:bg>
    <p:spTree>
      <p:nvGrpSpPr>
        <p:cNvPr id="95" name="Shape 95"/>
        <p:cNvGrpSpPr/>
        <p:nvPr/>
      </p:nvGrpSpPr>
      <p:grpSpPr>
        <a:xfrm>
          <a:off x="0" y="0"/>
          <a:ext cx="0" cy="0"/>
          <a:chOff x="0" y="0"/>
          <a:chExt cx="0" cy="0"/>
        </a:xfrm>
      </p:grpSpPr>
      <p:sp>
        <p:nvSpPr>
          <p:cNvPr id="96" name="Google Shape;96;p3"/>
          <p:cNvSpPr txBox="1"/>
          <p:nvPr>
            <p:ph type="title"/>
          </p:nvPr>
        </p:nvSpPr>
        <p:spPr>
          <a:xfrm>
            <a:off x="457200" y="697525"/>
            <a:ext cx="4560300" cy="1106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500">
                <a:solidFill>
                  <a:srgbClr val="E73278"/>
                </a:solidFill>
                <a:latin typeface="Georgia"/>
                <a:ea typeface="Georgia"/>
                <a:cs typeface="Georgia"/>
                <a:sym typeface="Georgia"/>
              </a:rPr>
              <a:t>Contexto:</a:t>
            </a:r>
            <a:endParaRPr b="1" sz="3500">
              <a:solidFill>
                <a:srgbClr val="E73278"/>
              </a:solidFill>
              <a:latin typeface="Georgia"/>
              <a:ea typeface="Georgia"/>
              <a:cs typeface="Georgia"/>
              <a:sym typeface="Georgia"/>
            </a:endParaRPr>
          </a:p>
        </p:txBody>
      </p:sp>
      <p:sp>
        <p:nvSpPr>
          <p:cNvPr id="97" name="Google Shape;97;p3"/>
          <p:cNvSpPr txBox="1"/>
          <p:nvPr>
            <p:ph idx="1" type="body"/>
          </p:nvPr>
        </p:nvSpPr>
        <p:spPr>
          <a:xfrm>
            <a:off x="457200" y="1804100"/>
            <a:ext cx="7927500" cy="2062500"/>
          </a:xfrm>
          <a:prstGeom prst="rect">
            <a:avLst/>
          </a:prstGeom>
          <a:noFill/>
          <a:ln>
            <a:noFill/>
          </a:ln>
        </p:spPr>
        <p:txBody>
          <a:bodyPr anchorCtr="0" anchor="t" bIns="45700" lIns="91425" spcFirstLastPara="1" rIns="91425" wrap="square" tIns="45700">
            <a:normAutofit/>
          </a:bodyPr>
          <a:lstStyle/>
          <a:p>
            <a:pPr indent="0" lvl="0" marL="0" rtl="0" algn="ctr">
              <a:lnSpc>
                <a:spcPct val="115000"/>
              </a:lnSpc>
              <a:spcBef>
                <a:spcPts val="0"/>
              </a:spcBef>
              <a:spcAft>
                <a:spcPts val="0"/>
              </a:spcAft>
              <a:buClr>
                <a:schemeClr val="dk1"/>
              </a:buClr>
              <a:buSzPts val="1100"/>
              <a:buFont typeface="Arial"/>
              <a:buNone/>
            </a:pPr>
            <a:r>
              <a:rPr lang="en-US" sz="1600"/>
              <a:t>El data set Proporcionado parece ser recopilado en México, cuenta con datos de casi dos años. La suma de las ventas por producto, es calculada por semana. Se muestran 497 productos, de 32 marcas diferentes pero de la misma categoría, 5 formatos diferentes.</a:t>
            </a:r>
            <a:endParaRPr sz="1600"/>
          </a:p>
          <a:p>
            <a:pPr indent="0" lvl="0" marL="0" rtl="0" algn="ctr">
              <a:lnSpc>
                <a:spcPct val="115000"/>
              </a:lnSpc>
              <a:spcBef>
                <a:spcPts val="0"/>
              </a:spcBef>
              <a:spcAft>
                <a:spcPts val="0"/>
              </a:spcAft>
              <a:buClr>
                <a:schemeClr val="dk1"/>
              </a:buClr>
              <a:buSzPts val="1100"/>
              <a:buFont typeface="Arial"/>
              <a:buNone/>
            </a:pPr>
            <a:r>
              <a:t/>
            </a:r>
            <a:endParaRPr sz="1600"/>
          </a:p>
          <a:p>
            <a:pPr indent="0" lvl="0" marL="0" rtl="0" algn="ctr">
              <a:spcBef>
                <a:spcPts val="0"/>
              </a:spcBef>
              <a:spcAft>
                <a:spcPts val="0"/>
              </a:spcAft>
              <a:buNone/>
            </a:pPr>
            <a:r>
              <a:rPr lang="en-US" sz="1600"/>
              <a:t>Para el </a:t>
            </a:r>
            <a:r>
              <a:rPr lang="en-US" sz="1600"/>
              <a:t>análisis</a:t>
            </a:r>
            <a:r>
              <a:rPr lang="en-US" sz="1600"/>
              <a:t> y exploración  de Datos se utilizaran todos los productos y toda la información posible, sin embargo, para la predicción mediante Machine Learning se </a:t>
            </a:r>
            <a:r>
              <a:rPr lang="en-US" sz="1600"/>
              <a:t>seleccionarán</a:t>
            </a:r>
            <a:r>
              <a:rPr lang="en-US" sz="1600"/>
              <a:t> a los productos más relevantes.</a:t>
            </a:r>
            <a:endParaRPr sz="1600"/>
          </a:p>
        </p:txBody>
      </p:sp>
      <p:pic>
        <p:nvPicPr>
          <p:cNvPr id="98" name="Google Shape;98;p3"/>
          <p:cNvPicPr preferRelativeResize="0"/>
          <p:nvPr/>
        </p:nvPicPr>
        <p:blipFill>
          <a:blip r:embed="rId3">
            <a:alphaModFix/>
          </a:blip>
          <a:stretch>
            <a:fillRect/>
          </a:stretch>
        </p:blipFill>
        <p:spPr>
          <a:xfrm>
            <a:off x="224950" y="4111038"/>
            <a:ext cx="8694090" cy="20625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p:nvPr/>
        </p:nvSpPr>
        <p:spPr>
          <a:xfrm>
            <a:off x="4572000" y="-12"/>
            <a:ext cx="4575300" cy="6858000"/>
          </a:xfrm>
          <a:prstGeom prst="rect">
            <a:avLst/>
          </a:prstGeom>
          <a:solidFill>
            <a:srgbClr val="00808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Limpieza de datos con </a:t>
            </a:r>
            <a:r>
              <a:rPr b="1" lang="en-US">
                <a:solidFill>
                  <a:schemeClr val="lt1"/>
                </a:solidFill>
                <a:latin typeface="Roboto"/>
                <a:ea typeface="Roboto"/>
                <a:cs typeface="Roboto"/>
                <a:sym typeface="Roboto"/>
              </a:rPr>
              <a:t>Pandas</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Visualización de Datos con </a:t>
            </a:r>
            <a:r>
              <a:rPr b="1" lang="en-US">
                <a:solidFill>
                  <a:schemeClr val="lt1"/>
                </a:solidFill>
                <a:latin typeface="Roboto"/>
                <a:ea typeface="Roboto"/>
                <a:cs typeface="Roboto"/>
                <a:sym typeface="Roboto"/>
              </a:rPr>
              <a:t>Matplotlib.pyplot</a:t>
            </a:r>
            <a:endParaRPr b="1">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Segmentación de Datos con </a:t>
            </a:r>
            <a:r>
              <a:rPr b="1" lang="en-US">
                <a:solidFill>
                  <a:schemeClr val="lt1"/>
                </a:solidFill>
                <a:latin typeface="Roboto"/>
                <a:ea typeface="Roboto"/>
                <a:cs typeface="Roboto"/>
                <a:sym typeface="Roboto"/>
              </a:rPr>
              <a:t>Sklearn.cluster.KMeans</a:t>
            </a:r>
            <a:endParaRPr b="1">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Descubrimiento de Hallazgos con </a:t>
            </a:r>
            <a:r>
              <a:rPr b="1" lang="en-US">
                <a:solidFill>
                  <a:schemeClr val="lt1"/>
                </a:solidFill>
                <a:latin typeface="Roboto"/>
                <a:ea typeface="Roboto"/>
                <a:cs typeface="Roboto"/>
                <a:sym typeface="Roboto"/>
              </a:rPr>
              <a:t>SQL</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Creación de Dashboard interactivo con </a:t>
            </a:r>
            <a:r>
              <a:rPr b="1" lang="en-US">
                <a:solidFill>
                  <a:schemeClr val="lt1"/>
                </a:solidFill>
                <a:latin typeface="Roboto"/>
                <a:ea typeface="Roboto"/>
                <a:cs typeface="Roboto"/>
                <a:sym typeface="Roboto"/>
              </a:rPr>
              <a:t>POWER BI</a:t>
            </a:r>
            <a:endParaRPr b="1">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Machine Learning con </a:t>
            </a:r>
            <a:r>
              <a:rPr b="1" lang="en-US">
                <a:solidFill>
                  <a:schemeClr val="lt1"/>
                </a:solidFill>
                <a:latin typeface="Roboto"/>
                <a:ea typeface="Roboto"/>
                <a:cs typeface="Roboto"/>
                <a:sym typeface="Roboto"/>
              </a:rPr>
              <a:t>statsmodels.tsa.ARIMA </a:t>
            </a:r>
            <a:endParaRPr b="1">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Medición de datos con </a:t>
            </a:r>
            <a:r>
              <a:rPr b="1" lang="en-US">
                <a:solidFill>
                  <a:schemeClr val="lt1"/>
                </a:solidFill>
                <a:latin typeface="Roboto"/>
                <a:ea typeface="Roboto"/>
                <a:cs typeface="Roboto"/>
                <a:sym typeface="Roboto"/>
              </a:rPr>
              <a:t>sklearn.metrics.</a:t>
            </a:r>
            <a:endParaRPr sz="1700">
              <a:solidFill>
                <a:schemeClr val="lt1"/>
              </a:solidFill>
              <a:latin typeface="Calibri"/>
              <a:ea typeface="Calibri"/>
              <a:cs typeface="Calibri"/>
              <a:sym typeface="Calibri"/>
            </a:endParaRPr>
          </a:p>
        </p:txBody>
      </p:sp>
      <p:sp>
        <p:nvSpPr>
          <p:cNvPr id="104" name="Google Shape;104;p4"/>
          <p:cNvSpPr txBox="1"/>
          <p:nvPr>
            <p:ph type="title"/>
          </p:nvPr>
        </p:nvSpPr>
        <p:spPr>
          <a:xfrm>
            <a:off x="297125" y="546450"/>
            <a:ext cx="40062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8080"/>
              </a:buClr>
              <a:buSzPts val="3200"/>
              <a:buFont typeface="Calibri"/>
              <a:buNone/>
            </a:pPr>
            <a:r>
              <a:rPr b="1" lang="en-US" sz="3500">
                <a:solidFill>
                  <a:srgbClr val="E73278"/>
                </a:solidFill>
                <a:latin typeface="Georgia"/>
                <a:ea typeface="Georgia"/>
                <a:cs typeface="Georgia"/>
                <a:sym typeface="Georgia"/>
              </a:rPr>
              <a:t>Herramientas Utilizadas</a:t>
            </a:r>
            <a:endParaRPr b="1" sz="3500">
              <a:solidFill>
                <a:srgbClr val="E73278"/>
              </a:solidFill>
              <a:latin typeface="Georgia"/>
              <a:ea typeface="Georgia"/>
              <a:cs typeface="Georgia"/>
              <a:sym typeface="Georgia"/>
            </a:endParaRPr>
          </a:p>
        </p:txBody>
      </p:sp>
      <p:grpSp>
        <p:nvGrpSpPr>
          <p:cNvPr id="105" name="Google Shape;105;p4"/>
          <p:cNvGrpSpPr/>
          <p:nvPr/>
        </p:nvGrpSpPr>
        <p:grpSpPr>
          <a:xfrm>
            <a:off x="452467" y="1921684"/>
            <a:ext cx="3695532" cy="4814180"/>
            <a:chOff x="4680451" y="1249485"/>
            <a:chExt cx="4139724" cy="5392831"/>
          </a:xfrm>
        </p:grpSpPr>
        <p:pic>
          <p:nvPicPr>
            <p:cNvPr id="106" name="Google Shape;106;p4"/>
            <p:cNvPicPr preferRelativeResize="0"/>
            <p:nvPr/>
          </p:nvPicPr>
          <p:blipFill>
            <a:blip r:embed="rId3">
              <a:alphaModFix/>
            </a:blip>
            <a:stretch>
              <a:fillRect/>
            </a:stretch>
          </p:blipFill>
          <p:spPr>
            <a:xfrm>
              <a:off x="5300675" y="1372429"/>
              <a:ext cx="1409700" cy="1409700"/>
            </a:xfrm>
            <a:prstGeom prst="rect">
              <a:avLst/>
            </a:prstGeom>
            <a:noFill/>
            <a:ln>
              <a:noFill/>
            </a:ln>
          </p:spPr>
        </p:pic>
        <p:pic>
          <p:nvPicPr>
            <p:cNvPr id="107" name="Google Shape;107;p4"/>
            <p:cNvPicPr preferRelativeResize="0"/>
            <p:nvPr/>
          </p:nvPicPr>
          <p:blipFill>
            <a:blip r:embed="rId4">
              <a:alphaModFix/>
            </a:blip>
            <a:stretch>
              <a:fillRect/>
            </a:stretch>
          </p:blipFill>
          <p:spPr>
            <a:xfrm>
              <a:off x="6894275" y="1249485"/>
              <a:ext cx="1409700" cy="1640132"/>
            </a:xfrm>
            <a:prstGeom prst="rect">
              <a:avLst/>
            </a:prstGeom>
            <a:noFill/>
            <a:ln>
              <a:noFill/>
            </a:ln>
          </p:spPr>
        </p:pic>
        <p:pic>
          <p:nvPicPr>
            <p:cNvPr id="108" name="Google Shape;108;p4"/>
            <p:cNvPicPr preferRelativeResize="0"/>
            <p:nvPr/>
          </p:nvPicPr>
          <p:blipFill>
            <a:blip r:embed="rId5">
              <a:alphaModFix/>
            </a:blip>
            <a:stretch>
              <a:fillRect/>
            </a:stretch>
          </p:blipFill>
          <p:spPr>
            <a:xfrm>
              <a:off x="6409895" y="2852966"/>
              <a:ext cx="2349380" cy="1266825"/>
            </a:xfrm>
            <a:prstGeom prst="rect">
              <a:avLst/>
            </a:prstGeom>
            <a:noFill/>
            <a:ln>
              <a:noFill/>
            </a:ln>
          </p:spPr>
        </p:pic>
        <p:pic>
          <p:nvPicPr>
            <p:cNvPr id="109" name="Google Shape;109;p4"/>
            <p:cNvPicPr preferRelativeResize="0"/>
            <p:nvPr/>
          </p:nvPicPr>
          <p:blipFill>
            <a:blip r:embed="rId6">
              <a:alphaModFix/>
            </a:blip>
            <a:stretch>
              <a:fillRect/>
            </a:stretch>
          </p:blipFill>
          <p:spPr>
            <a:xfrm>
              <a:off x="4680451" y="5549750"/>
              <a:ext cx="2349375" cy="1092566"/>
            </a:xfrm>
            <a:prstGeom prst="rect">
              <a:avLst/>
            </a:prstGeom>
            <a:noFill/>
            <a:ln>
              <a:noFill/>
            </a:ln>
          </p:spPr>
        </p:pic>
        <p:pic>
          <p:nvPicPr>
            <p:cNvPr id="110" name="Google Shape;110;p4"/>
            <p:cNvPicPr preferRelativeResize="0"/>
            <p:nvPr/>
          </p:nvPicPr>
          <p:blipFill rotWithShape="1">
            <a:blip r:embed="rId7">
              <a:alphaModFix/>
            </a:blip>
            <a:srcRect b="20855" l="-9158" r="0" t="19317"/>
            <a:stretch/>
          </p:blipFill>
          <p:spPr>
            <a:xfrm>
              <a:off x="7029825" y="5630663"/>
              <a:ext cx="1790350" cy="981175"/>
            </a:xfrm>
            <a:prstGeom prst="rect">
              <a:avLst/>
            </a:prstGeom>
            <a:noFill/>
            <a:ln>
              <a:noFill/>
            </a:ln>
          </p:spPr>
        </p:pic>
        <p:pic>
          <p:nvPicPr>
            <p:cNvPr id="111" name="Google Shape;111;p4"/>
            <p:cNvPicPr preferRelativeResize="0"/>
            <p:nvPr/>
          </p:nvPicPr>
          <p:blipFill rotWithShape="1">
            <a:blip r:embed="rId8">
              <a:alphaModFix/>
            </a:blip>
            <a:srcRect b="10829" l="0" r="0" t="-10830"/>
            <a:stretch/>
          </p:blipFill>
          <p:spPr>
            <a:xfrm>
              <a:off x="5067300" y="4406749"/>
              <a:ext cx="3619500" cy="1143000"/>
            </a:xfrm>
            <a:prstGeom prst="rect">
              <a:avLst/>
            </a:prstGeom>
            <a:noFill/>
            <a:ln>
              <a:noFill/>
            </a:ln>
          </p:spPr>
        </p:pic>
        <p:pic>
          <p:nvPicPr>
            <p:cNvPr id="112" name="Google Shape;112;p4"/>
            <p:cNvPicPr preferRelativeResize="0"/>
            <p:nvPr/>
          </p:nvPicPr>
          <p:blipFill rotWithShape="1">
            <a:blip r:embed="rId9">
              <a:alphaModFix/>
            </a:blip>
            <a:srcRect b="0" l="12100" r="13891" t="0"/>
            <a:stretch/>
          </p:blipFill>
          <p:spPr>
            <a:xfrm>
              <a:off x="4892525" y="2665800"/>
              <a:ext cx="1409700" cy="1904875"/>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4231650" y="479575"/>
            <a:ext cx="4453500" cy="1679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200">
                <a:solidFill>
                  <a:srgbClr val="008080"/>
                </a:solidFill>
                <a:latin typeface="Georgia"/>
                <a:ea typeface="Georgia"/>
                <a:cs typeface="Georgia"/>
                <a:sym typeface="Georgia"/>
              </a:rPr>
              <a:t>Carga </a:t>
            </a:r>
            <a:endParaRPr b="1" sz="3200">
              <a:solidFill>
                <a:srgbClr val="008080"/>
              </a:solidFill>
              <a:latin typeface="Georgia"/>
              <a:ea typeface="Georgia"/>
              <a:cs typeface="Georgia"/>
              <a:sym typeface="Georgia"/>
            </a:endParaRPr>
          </a:p>
          <a:p>
            <a:pPr indent="0" lvl="0" marL="0" rtl="0" algn="l">
              <a:spcBef>
                <a:spcPts val="0"/>
              </a:spcBef>
              <a:spcAft>
                <a:spcPts val="0"/>
              </a:spcAft>
              <a:buClr>
                <a:srgbClr val="008080"/>
              </a:buClr>
              <a:buSzPts val="3200"/>
              <a:buFont typeface="Calibri"/>
              <a:buNone/>
            </a:pPr>
            <a:r>
              <a:rPr b="1" lang="en-US" sz="3200">
                <a:solidFill>
                  <a:srgbClr val="008080"/>
                </a:solidFill>
                <a:latin typeface="Georgia"/>
                <a:ea typeface="Georgia"/>
                <a:cs typeface="Georgia"/>
                <a:sym typeface="Georgia"/>
              </a:rPr>
              <a:t>y Limpieza de Datos</a:t>
            </a:r>
            <a:endParaRPr b="1">
              <a:latin typeface="Georgia"/>
              <a:ea typeface="Georgia"/>
              <a:cs typeface="Georgia"/>
              <a:sym typeface="Georgia"/>
            </a:endParaRPr>
          </a:p>
        </p:txBody>
      </p:sp>
      <p:sp>
        <p:nvSpPr>
          <p:cNvPr id="118" name="Google Shape;118;p5"/>
          <p:cNvSpPr txBox="1"/>
          <p:nvPr/>
        </p:nvSpPr>
        <p:spPr>
          <a:xfrm>
            <a:off x="10300" y="800"/>
            <a:ext cx="3797700" cy="6858000"/>
          </a:xfrm>
          <a:prstGeom prst="rect">
            <a:avLst/>
          </a:prstGeom>
          <a:solidFill>
            <a:srgbClr val="E73278"/>
          </a:solid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r">
              <a:lnSpc>
                <a:spcPct val="115000"/>
              </a:lnSpc>
              <a:spcBef>
                <a:spcPts val="0"/>
              </a:spcBef>
              <a:spcAft>
                <a:spcPts val="0"/>
              </a:spcAft>
              <a:buNone/>
            </a:pPr>
            <a:r>
              <a:rPr lang="en-US" sz="1500">
                <a:solidFill>
                  <a:schemeClr val="lt1"/>
                </a:solidFill>
                <a:latin typeface="Roboto"/>
                <a:ea typeface="Roboto"/>
                <a:cs typeface="Roboto"/>
                <a:sym typeface="Roboto"/>
              </a:rPr>
              <a:t>Se utilizaron funciones básicas de </a:t>
            </a:r>
            <a:r>
              <a:rPr b="1" lang="en-US" sz="1500">
                <a:solidFill>
                  <a:schemeClr val="lt1"/>
                </a:solidFill>
                <a:latin typeface="Roboto"/>
                <a:ea typeface="Roboto"/>
                <a:cs typeface="Roboto"/>
                <a:sym typeface="Roboto"/>
              </a:rPr>
              <a:t>Pandas</a:t>
            </a:r>
            <a:r>
              <a:rPr lang="en-US" sz="1500">
                <a:solidFill>
                  <a:schemeClr val="lt1"/>
                </a:solidFill>
                <a:latin typeface="Roboto"/>
                <a:ea typeface="Roboto"/>
                <a:cs typeface="Roboto"/>
                <a:sym typeface="Roboto"/>
              </a:rPr>
              <a:t> como: </a:t>
            </a:r>
            <a:endParaRPr sz="1500">
              <a:solidFill>
                <a:schemeClr val="lt1"/>
              </a:solidFill>
              <a:latin typeface="Roboto"/>
              <a:ea typeface="Roboto"/>
              <a:cs typeface="Roboto"/>
              <a:sym typeface="Roboto"/>
            </a:endParaRPr>
          </a:p>
          <a:p>
            <a:pPr indent="0" lvl="0" marL="0" rtl="0" algn="r">
              <a:lnSpc>
                <a:spcPct val="115000"/>
              </a:lnSpc>
              <a:spcBef>
                <a:spcPts val="0"/>
              </a:spcBef>
              <a:spcAft>
                <a:spcPts val="0"/>
              </a:spcAft>
              <a:buClr>
                <a:schemeClr val="dk1"/>
              </a:buClr>
              <a:buSzPts val="1100"/>
              <a:buFont typeface="Arial"/>
              <a:buNone/>
            </a:pPr>
            <a:r>
              <a:rPr b="1" lang="en-US" sz="1500">
                <a:solidFill>
                  <a:schemeClr val="lt1"/>
                </a:solidFill>
                <a:latin typeface="Roboto"/>
                <a:ea typeface="Roboto"/>
                <a:cs typeface="Roboto"/>
                <a:sym typeface="Roboto"/>
              </a:rPr>
              <a:t>drop_duplicates(), Dropna(), </a:t>
            </a:r>
            <a:endParaRPr b="1" sz="1500">
              <a:solidFill>
                <a:schemeClr val="lt1"/>
              </a:solidFill>
              <a:latin typeface="Roboto"/>
              <a:ea typeface="Roboto"/>
              <a:cs typeface="Roboto"/>
              <a:sym typeface="Roboto"/>
            </a:endParaRPr>
          </a:p>
          <a:p>
            <a:pPr indent="0" lvl="0" marL="0" rtl="0" algn="r">
              <a:lnSpc>
                <a:spcPct val="115000"/>
              </a:lnSpc>
              <a:spcBef>
                <a:spcPts val="0"/>
              </a:spcBef>
              <a:spcAft>
                <a:spcPts val="0"/>
              </a:spcAft>
              <a:buClr>
                <a:schemeClr val="dk1"/>
              </a:buClr>
              <a:buSzPts val="1100"/>
              <a:buFont typeface="Arial"/>
              <a:buNone/>
            </a:pPr>
            <a:r>
              <a:rPr b="1" lang="en-US" sz="1500">
                <a:solidFill>
                  <a:schemeClr val="lt1"/>
                </a:solidFill>
                <a:latin typeface="Roboto"/>
                <a:ea typeface="Roboto"/>
                <a:cs typeface="Roboto"/>
                <a:sym typeface="Roboto"/>
              </a:rPr>
              <a:t>merge(), concat(), groupby().. etc.</a:t>
            </a:r>
            <a:endParaRPr b="1" sz="3600">
              <a:solidFill>
                <a:schemeClr val="lt1"/>
              </a:solidFill>
              <a:latin typeface="Calibri"/>
              <a:ea typeface="Calibri"/>
              <a:cs typeface="Calibri"/>
              <a:sym typeface="Calibri"/>
            </a:endParaRPr>
          </a:p>
        </p:txBody>
      </p:sp>
      <p:pic>
        <p:nvPicPr>
          <p:cNvPr id="119" name="Google Shape;119;p5"/>
          <p:cNvPicPr preferRelativeResize="0"/>
          <p:nvPr/>
        </p:nvPicPr>
        <p:blipFill>
          <a:blip r:embed="rId3">
            <a:alphaModFix/>
          </a:blip>
          <a:stretch>
            <a:fillRect/>
          </a:stretch>
        </p:blipFill>
        <p:spPr>
          <a:xfrm>
            <a:off x="4096025" y="2311675"/>
            <a:ext cx="4724750" cy="33257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080"/>
        </a:solidFill>
      </p:bgPr>
    </p:bg>
    <p:spTree>
      <p:nvGrpSpPr>
        <p:cNvPr id="123" name="Shape 123"/>
        <p:cNvGrpSpPr/>
        <p:nvPr/>
      </p:nvGrpSpPr>
      <p:grpSpPr>
        <a:xfrm>
          <a:off x="0" y="0"/>
          <a:ext cx="0" cy="0"/>
          <a:chOff x="0" y="0"/>
          <a:chExt cx="0" cy="0"/>
        </a:xfrm>
      </p:grpSpPr>
      <p:sp>
        <p:nvSpPr>
          <p:cNvPr id="124" name="Google Shape;124;g3984c733a10_0_20"/>
          <p:cNvSpPr txBox="1"/>
          <p:nvPr>
            <p:ph type="title"/>
          </p:nvPr>
        </p:nvSpPr>
        <p:spPr>
          <a:xfrm>
            <a:off x="156650" y="424925"/>
            <a:ext cx="6793500" cy="99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3200"/>
              <a:buFont typeface="Calibri"/>
              <a:buNone/>
            </a:pPr>
            <a:r>
              <a:rPr b="1" lang="en-US" sz="3200">
                <a:solidFill>
                  <a:schemeClr val="lt1"/>
                </a:solidFill>
                <a:latin typeface="Georgia"/>
                <a:ea typeface="Georgia"/>
                <a:cs typeface="Georgia"/>
                <a:sym typeface="Georgia"/>
              </a:rPr>
              <a:t>Análisis Exploratorio de Datos:</a:t>
            </a:r>
            <a:endParaRPr b="1">
              <a:solidFill>
                <a:schemeClr val="lt1"/>
              </a:solidFill>
              <a:latin typeface="Georgia"/>
              <a:ea typeface="Georgia"/>
              <a:cs typeface="Georgia"/>
              <a:sym typeface="Georgia"/>
            </a:endParaRPr>
          </a:p>
        </p:txBody>
      </p:sp>
      <p:sp>
        <p:nvSpPr>
          <p:cNvPr id="125" name="Google Shape;125;g3984c733a10_0_20"/>
          <p:cNvSpPr txBox="1"/>
          <p:nvPr>
            <p:ph idx="1" type="body"/>
          </p:nvPr>
        </p:nvSpPr>
        <p:spPr>
          <a:xfrm>
            <a:off x="457200" y="1417650"/>
            <a:ext cx="8229600" cy="6051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None/>
            </a:pPr>
            <a:r>
              <a:rPr lang="en-US" sz="1500">
                <a:solidFill>
                  <a:schemeClr val="lt1"/>
                </a:solidFill>
              </a:rPr>
              <a:t>Ademas de los típicos .info() y .describe(), se analizaron diferentes puntos importantes para darnos una idea de la historia oculta </a:t>
            </a:r>
            <a:r>
              <a:rPr lang="en-US" sz="1500">
                <a:solidFill>
                  <a:schemeClr val="lt1"/>
                </a:solidFill>
              </a:rPr>
              <a:t>detrás</a:t>
            </a:r>
            <a:r>
              <a:rPr lang="en-US" sz="1500">
                <a:solidFill>
                  <a:schemeClr val="lt1"/>
                </a:solidFill>
              </a:rPr>
              <a:t> de los datos</a:t>
            </a:r>
            <a:endParaRPr sz="1500">
              <a:solidFill>
                <a:schemeClr val="lt1"/>
              </a:solidFill>
            </a:endParaRPr>
          </a:p>
        </p:txBody>
      </p:sp>
      <p:pic>
        <p:nvPicPr>
          <p:cNvPr id="126" name="Google Shape;126;g3984c733a10_0_20"/>
          <p:cNvPicPr preferRelativeResize="0"/>
          <p:nvPr/>
        </p:nvPicPr>
        <p:blipFill>
          <a:blip r:embed="rId3">
            <a:alphaModFix/>
          </a:blip>
          <a:stretch>
            <a:fillRect/>
          </a:stretch>
        </p:blipFill>
        <p:spPr>
          <a:xfrm>
            <a:off x="585625" y="2147850"/>
            <a:ext cx="7972749" cy="3467750"/>
          </a:xfrm>
          <a:prstGeom prst="rect">
            <a:avLst/>
          </a:prstGeom>
          <a:noFill/>
          <a:ln>
            <a:noFill/>
          </a:ln>
        </p:spPr>
      </p:pic>
      <p:sp>
        <p:nvSpPr>
          <p:cNvPr id="127" name="Google Shape;127;g3984c733a10_0_20"/>
          <p:cNvSpPr txBox="1"/>
          <p:nvPr/>
        </p:nvSpPr>
        <p:spPr>
          <a:xfrm>
            <a:off x="2947500" y="5740700"/>
            <a:ext cx="5610900" cy="7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lt1"/>
                </a:solidFill>
                <a:latin typeface="Calibri"/>
                <a:ea typeface="Calibri"/>
                <a:cs typeface="Calibri"/>
                <a:sym typeface="Calibri"/>
              </a:rPr>
              <a:t>Parece que tenemos una distribución que no sigue tendencias.. bien podría calificar para un modelo de predicción ARIMA.</a:t>
            </a:r>
            <a:endParaRPr sz="15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3278"/>
        </a:solidFill>
      </p:bgPr>
    </p:bg>
    <p:spTree>
      <p:nvGrpSpPr>
        <p:cNvPr id="131" name="Shape 131"/>
        <p:cNvGrpSpPr/>
        <p:nvPr/>
      </p:nvGrpSpPr>
      <p:grpSpPr>
        <a:xfrm>
          <a:off x="0" y="0"/>
          <a:ext cx="0" cy="0"/>
          <a:chOff x="0" y="0"/>
          <a:chExt cx="0" cy="0"/>
        </a:xfrm>
      </p:grpSpPr>
      <p:sp>
        <p:nvSpPr>
          <p:cNvPr id="132" name="Google Shape;132;p6"/>
          <p:cNvSpPr txBox="1"/>
          <p:nvPr>
            <p:ph type="title"/>
          </p:nvPr>
        </p:nvSpPr>
        <p:spPr>
          <a:xfrm>
            <a:off x="0" y="274650"/>
            <a:ext cx="68001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3200"/>
              <a:buFont typeface="Calibri"/>
              <a:buNone/>
            </a:pPr>
            <a:r>
              <a:rPr b="1" lang="en-US" sz="3200">
                <a:solidFill>
                  <a:schemeClr val="lt1"/>
                </a:solidFill>
                <a:latin typeface="Georgia"/>
                <a:ea typeface="Georgia"/>
                <a:cs typeface="Georgia"/>
                <a:sym typeface="Georgia"/>
              </a:rPr>
              <a:t>Análisis Exploratorio de Datos:</a:t>
            </a:r>
            <a:endParaRPr b="1">
              <a:solidFill>
                <a:schemeClr val="lt1"/>
              </a:solidFill>
              <a:latin typeface="Georgia"/>
              <a:ea typeface="Georgia"/>
              <a:cs typeface="Georgia"/>
              <a:sym typeface="Georgia"/>
            </a:endParaRPr>
          </a:p>
        </p:txBody>
      </p:sp>
      <p:sp>
        <p:nvSpPr>
          <p:cNvPr id="133" name="Google Shape;133;p6"/>
          <p:cNvSpPr txBox="1"/>
          <p:nvPr>
            <p:ph idx="1" type="body"/>
          </p:nvPr>
        </p:nvSpPr>
        <p:spPr>
          <a:xfrm>
            <a:off x="457200" y="1417650"/>
            <a:ext cx="8229600" cy="728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500">
                <a:solidFill>
                  <a:schemeClr val="lt1"/>
                </a:solidFill>
              </a:rPr>
              <a:t>Fue </a:t>
            </a:r>
            <a:r>
              <a:rPr lang="en-US" sz="1500">
                <a:solidFill>
                  <a:schemeClr val="lt1"/>
                </a:solidFill>
              </a:rPr>
              <a:t>decisivo</a:t>
            </a:r>
            <a:r>
              <a:rPr lang="en-US" sz="1500">
                <a:solidFill>
                  <a:schemeClr val="lt1"/>
                </a:solidFill>
              </a:rPr>
              <a:t> interpretar </a:t>
            </a:r>
            <a:r>
              <a:rPr lang="en-US" sz="1500">
                <a:solidFill>
                  <a:schemeClr val="lt1"/>
                </a:solidFill>
              </a:rPr>
              <a:t>también</a:t>
            </a:r>
            <a:r>
              <a:rPr lang="en-US" sz="1500">
                <a:solidFill>
                  <a:schemeClr val="lt1"/>
                </a:solidFill>
              </a:rPr>
              <a:t> los datos de ventas por año. y poder ver la curva de ventas que parecen seguir tendencias repetitivas.</a:t>
            </a:r>
            <a:endParaRPr sz="1500">
              <a:solidFill>
                <a:schemeClr val="lt1"/>
              </a:solidFill>
            </a:endParaRPr>
          </a:p>
        </p:txBody>
      </p:sp>
      <p:pic>
        <p:nvPicPr>
          <p:cNvPr id="134" name="Google Shape;134;p6"/>
          <p:cNvPicPr preferRelativeResize="0"/>
          <p:nvPr/>
        </p:nvPicPr>
        <p:blipFill>
          <a:blip r:embed="rId3">
            <a:alphaModFix/>
          </a:blip>
          <a:stretch>
            <a:fillRect/>
          </a:stretch>
        </p:blipFill>
        <p:spPr>
          <a:xfrm>
            <a:off x="207050" y="2337000"/>
            <a:ext cx="4284175" cy="3406000"/>
          </a:xfrm>
          <a:prstGeom prst="rect">
            <a:avLst/>
          </a:prstGeom>
          <a:noFill/>
          <a:ln>
            <a:noFill/>
          </a:ln>
        </p:spPr>
      </p:pic>
      <p:pic>
        <p:nvPicPr>
          <p:cNvPr id="135" name="Google Shape;135;p6"/>
          <p:cNvPicPr preferRelativeResize="0"/>
          <p:nvPr/>
        </p:nvPicPr>
        <p:blipFill>
          <a:blip r:embed="rId4">
            <a:alphaModFix/>
          </a:blip>
          <a:stretch>
            <a:fillRect/>
          </a:stretch>
        </p:blipFill>
        <p:spPr>
          <a:xfrm>
            <a:off x="4630527" y="2337000"/>
            <a:ext cx="4284175" cy="3406000"/>
          </a:xfrm>
          <a:prstGeom prst="rect">
            <a:avLst/>
          </a:prstGeom>
          <a:noFill/>
          <a:ln>
            <a:noFill/>
          </a:ln>
        </p:spPr>
      </p:pic>
      <p:sp>
        <p:nvSpPr>
          <p:cNvPr id="136" name="Google Shape;136;p6"/>
          <p:cNvSpPr txBox="1"/>
          <p:nvPr/>
        </p:nvSpPr>
        <p:spPr>
          <a:xfrm>
            <a:off x="1379800" y="5879614"/>
            <a:ext cx="6117000" cy="681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100"/>
              </a:spcBef>
              <a:spcAft>
                <a:spcPts val="500"/>
              </a:spcAft>
              <a:buNone/>
            </a:pPr>
            <a:r>
              <a:rPr b="1" lang="en-US" sz="1500">
                <a:solidFill>
                  <a:schemeClr val="lt1"/>
                </a:solidFill>
                <a:latin typeface="Calibri"/>
                <a:ea typeface="Calibri"/>
                <a:cs typeface="Calibri"/>
                <a:sym typeface="Calibri"/>
              </a:rPr>
              <a:t>El 2023 está por encima de las ventas y, sigue un patrón parecido, sin embargo no existe registro a mitad del año aproximadamente.</a:t>
            </a:r>
            <a:endParaRPr b="1" sz="15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080"/>
        </a:solidFill>
      </p:bgPr>
    </p:bg>
    <p:spTree>
      <p:nvGrpSpPr>
        <p:cNvPr id="140" name="Shape 140"/>
        <p:cNvGrpSpPr/>
        <p:nvPr/>
      </p:nvGrpSpPr>
      <p:grpSpPr>
        <a:xfrm>
          <a:off x="0" y="0"/>
          <a:ext cx="0" cy="0"/>
          <a:chOff x="0" y="0"/>
          <a:chExt cx="0" cy="0"/>
        </a:xfrm>
      </p:grpSpPr>
      <p:sp>
        <p:nvSpPr>
          <p:cNvPr id="141" name="Google Shape;141;g3984c733a10_0_14"/>
          <p:cNvSpPr txBox="1"/>
          <p:nvPr>
            <p:ph type="title"/>
          </p:nvPr>
        </p:nvSpPr>
        <p:spPr>
          <a:xfrm>
            <a:off x="0" y="274650"/>
            <a:ext cx="70050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3200"/>
              <a:buFont typeface="Calibri"/>
              <a:buNone/>
            </a:pPr>
            <a:r>
              <a:rPr b="1" lang="en-US" sz="3200">
                <a:solidFill>
                  <a:srgbClr val="F69CDB"/>
                </a:solidFill>
                <a:latin typeface="Georgia"/>
                <a:ea typeface="Georgia"/>
                <a:cs typeface="Georgia"/>
                <a:sym typeface="Georgia"/>
              </a:rPr>
              <a:t>Análisis Exploratorio de Datos:</a:t>
            </a:r>
            <a:endParaRPr b="1">
              <a:solidFill>
                <a:srgbClr val="F69CDB"/>
              </a:solidFill>
              <a:latin typeface="Georgia"/>
              <a:ea typeface="Georgia"/>
              <a:cs typeface="Georgia"/>
              <a:sym typeface="Georgia"/>
            </a:endParaRPr>
          </a:p>
        </p:txBody>
      </p:sp>
      <p:sp>
        <p:nvSpPr>
          <p:cNvPr id="142" name="Google Shape;142;g3984c733a10_0_14"/>
          <p:cNvSpPr txBox="1"/>
          <p:nvPr>
            <p:ph idx="1" type="body"/>
          </p:nvPr>
        </p:nvSpPr>
        <p:spPr>
          <a:xfrm>
            <a:off x="457200" y="1423100"/>
            <a:ext cx="8229600" cy="615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500">
                <a:solidFill>
                  <a:schemeClr val="lt1"/>
                </a:solidFill>
              </a:rPr>
              <a:t>Dos </a:t>
            </a:r>
            <a:r>
              <a:rPr lang="en-US" sz="1500">
                <a:solidFill>
                  <a:schemeClr val="lt1"/>
                </a:solidFill>
              </a:rPr>
              <a:t>gráficos</a:t>
            </a:r>
            <a:r>
              <a:rPr lang="en-US" sz="1500">
                <a:solidFill>
                  <a:schemeClr val="lt1"/>
                </a:solidFill>
              </a:rPr>
              <a:t> fueron realizados para analizar las ventas por región. El primero muestra las tendencias. El segundo muestra más claramente cuanto se ha superado el volumen de ventas para cada Region.</a:t>
            </a:r>
            <a:endParaRPr sz="1500">
              <a:solidFill>
                <a:schemeClr val="lt1"/>
              </a:solidFill>
            </a:endParaRPr>
          </a:p>
        </p:txBody>
      </p:sp>
      <p:pic>
        <p:nvPicPr>
          <p:cNvPr id="143" name="Google Shape;143;g3984c733a10_0_14"/>
          <p:cNvPicPr preferRelativeResize="0"/>
          <p:nvPr/>
        </p:nvPicPr>
        <p:blipFill>
          <a:blip r:embed="rId3">
            <a:alphaModFix/>
          </a:blip>
          <a:stretch>
            <a:fillRect/>
          </a:stretch>
        </p:blipFill>
        <p:spPr>
          <a:xfrm>
            <a:off x="179725" y="2186725"/>
            <a:ext cx="4660050" cy="3426775"/>
          </a:xfrm>
          <a:prstGeom prst="rect">
            <a:avLst/>
          </a:prstGeom>
          <a:noFill/>
          <a:ln>
            <a:noFill/>
          </a:ln>
        </p:spPr>
      </p:pic>
      <p:pic>
        <p:nvPicPr>
          <p:cNvPr id="144" name="Google Shape;144;g3984c733a10_0_14"/>
          <p:cNvPicPr preferRelativeResize="0"/>
          <p:nvPr/>
        </p:nvPicPr>
        <p:blipFill>
          <a:blip r:embed="rId4">
            <a:alphaModFix/>
          </a:blip>
          <a:stretch>
            <a:fillRect/>
          </a:stretch>
        </p:blipFill>
        <p:spPr>
          <a:xfrm>
            <a:off x="4961000" y="2188832"/>
            <a:ext cx="3648075" cy="3641019"/>
          </a:xfrm>
          <a:prstGeom prst="rect">
            <a:avLst/>
          </a:prstGeom>
          <a:noFill/>
          <a:ln>
            <a:noFill/>
          </a:ln>
        </p:spPr>
      </p:pic>
      <p:sp>
        <p:nvSpPr>
          <p:cNvPr id="145" name="Google Shape;145;g3984c733a10_0_14"/>
          <p:cNvSpPr txBox="1"/>
          <p:nvPr/>
        </p:nvSpPr>
        <p:spPr>
          <a:xfrm>
            <a:off x="457200" y="5870841"/>
            <a:ext cx="81519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solidFill>
                  <a:srgbClr val="FFFFFF"/>
                </a:solidFill>
              </a:rPr>
              <a:t>Las regiones siguen los mismos patrones de ventas, sin embargo </a:t>
            </a:r>
            <a:r>
              <a:rPr b="1" lang="en-US">
                <a:solidFill>
                  <a:srgbClr val="FFFFFF"/>
                </a:solidFill>
              </a:rPr>
              <a:t>AUTOS SCANNING MEXICO ha sido por gran diferencia el </a:t>
            </a:r>
            <a:r>
              <a:rPr b="1" lang="en-US">
                <a:solidFill>
                  <a:srgbClr val="FFFFFF"/>
                </a:solidFill>
              </a:rPr>
              <a:t>área</a:t>
            </a:r>
            <a:r>
              <a:rPr b="1" lang="en-US">
                <a:solidFill>
                  <a:srgbClr val="FFFFFF"/>
                </a:solidFill>
              </a:rPr>
              <a:t> que más ventas tiene, superando con el triple o más al resto.</a:t>
            </a:r>
            <a:endParaRPr b="1">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EAEA"/>
        </a:solidFill>
      </p:bgPr>
    </p:bg>
    <p:spTree>
      <p:nvGrpSpPr>
        <p:cNvPr id="149" name="Shape 149"/>
        <p:cNvGrpSpPr/>
        <p:nvPr/>
      </p:nvGrpSpPr>
      <p:grpSpPr>
        <a:xfrm>
          <a:off x="0" y="0"/>
          <a:ext cx="0" cy="0"/>
          <a:chOff x="0" y="0"/>
          <a:chExt cx="0" cy="0"/>
        </a:xfrm>
      </p:grpSpPr>
      <p:sp>
        <p:nvSpPr>
          <p:cNvPr id="150" name="Google Shape;150;g3984c733a10_0_41"/>
          <p:cNvSpPr txBox="1"/>
          <p:nvPr>
            <p:ph type="title"/>
          </p:nvPr>
        </p:nvSpPr>
        <p:spPr>
          <a:xfrm>
            <a:off x="224957" y="138024"/>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200">
                <a:solidFill>
                  <a:srgbClr val="008080"/>
                </a:solidFill>
                <a:latin typeface="Georgia"/>
                <a:ea typeface="Georgia"/>
                <a:cs typeface="Georgia"/>
                <a:sym typeface="Georgia"/>
              </a:rPr>
              <a:t>Análisis Exploratorio de Datos:</a:t>
            </a:r>
            <a:endParaRPr b="1">
              <a:latin typeface="Georgia"/>
              <a:ea typeface="Georgia"/>
              <a:cs typeface="Georgia"/>
              <a:sym typeface="Georgia"/>
            </a:endParaRPr>
          </a:p>
        </p:txBody>
      </p:sp>
      <p:sp>
        <p:nvSpPr>
          <p:cNvPr id="151" name="Google Shape;151;g3984c733a10_0_41"/>
          <p:cNvSpPr txBox="1"/>
          <p:nvPr>
            <p:ph idx="1" type="body"/>
          </p:nvPr>
        </p:nvSpPr>
        <p:spPr>
          <a:xfrm>
            <a:off x="457200" y="994148"/>
            <a:ext cx="8229600" cy="50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t>Sobre las diferentes marcas en el DataSet… Será que coinciden las mismas marcas en ambos años?</a:t>
            </a:r>
            <a:endParaRPr sz="1500"/>
          </a:p>
        </p:txBody>
      </p:sp>
      <p:sp>
        <p:nvSpPr>
          <p:cNvPr id="152" name="Google Shape;152;g3984c733a10_0_41"/>
          <p:cNvSpPr txBox="1"/>
          <p:nvPr/>
        </p:nvSpPr>
        <p:spPr>
          <a:xfrm>
            <a:off x="457200" y="6062100"/>
            <a:ext cx="7804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latin typeface="Calibri"/>
                <a:ea typeface="Calibri"/>
                <a:cs typeface="Calibri"/>
                <a:sym typeface="Calibri"/>
              </a:rPr>
              <a:t>Las regiones siguen los mismos patrones de ventas, sin embargo AUTOS SCANNING </a:t>
            </a:r>
            <a:r>
              <a:rPr b="1" lang="en-US" sz="1500">
                <a:latin typeface="Calibri"/>
                <a:ea typeface="Calibri"/>
                <a:cs typeface="Calibri"/>
                <a:sym typeface="Calibri"/>
              </a:rPr>
              <a:t>MÉXICO</a:t>
            </a:r>
            <a:r>
              <a:rPr b="1" lang="en-US" sz="1500">
                <a:latin typeface="Calibri"/>
                <a:ea typeface="Calibri"/>
                <a:cs typeface="Calibri"/>
                <a:sym typeface="Calibri"/>
              </a:rPr>
              <a:t> ha sido por gran diferencia el area que más ventas tiene, superando con el triple o más al resto.</a:t>
            </a:r>
            <a:endParaRPr b="1" sz="1500">
              <a:latin typeface="Calibri"/>
              <a:ea typeface="Calibri"/>
              <a:cs typeface="Calibri"/>
              <a:sym typeface="Calibri"/>
            </a:endParaRPr>
          </a:p>
        </p:txBody>
      </p:sp>
      <p:pic>
        <p:nvPicPr>
          <p:cNvPr id="153" name="Google Shape;153;g3984c733a10_0_41"/>
          <p:cNvPicPr preferRelativeResize="0"/>
          <p:nvPr/>
        </p:nvPicPr>
        <p:blipFill>
          <a:blip r:embed="rId3">
            <a:alphaModFix/>
          </a:blip>
          <a:stretch>
            <a:fillRect/>
          </a:stretch>
        </p:blipFill>
        <p:spPr>
          <a:xfrm>
            <a:off x="965673" y="1500550"/>
            <a:ext cx="6804278" cy="4453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3278"/>
        </a:solidFill>
      </p:bgPr>
    </p:bg>
    <p:spTree>
      <p:nvGrpSpPr>
        <p:cNvPr id="157" name="Shape 157"/>
        <p:cNvGrpSpPr/>
        <p:nvPr/>
      </p:nvGrpSpPr>
      <p:grpSpPr>
        <a:xfrm>
          <a:off x="0" y="0"/>
          <a:ext cx="0" cy="0"/>
          <a:chOff x="0" y="0"/>
          <a:chExt cx="0" cy="0"/>
        </a:xfrm>
      </p:grpSpPr>
      <p:sp>
        <p:nvSpPr>
          <p:cNvPr id="158" name="Google Shape;158;g3984c733a10_0_50"/>
          <p:cNvSpPr txBox="1"/>
          <p:nvPr>
            <p:ph type="title"/>
          </p:nvPr>
        </p:nvSpPr>
        <p:spPr>
          <a:xfrm>
            <a:off x="88325" y="1222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200">
                <a:solidFill>
                  <a:srgbClr val="A2EAEA"/>
                </a:solidFill>
                <a:latin typeface="Georgia"/>
                <a:ea typeface="Georgia"/>
                <a:cs typeface="Georgia"/>
                <a:sym typeface="Georgia"/>
              </a:rPr>
              <a:t>Análisis Exploratorio de Datos:</a:t>
            </a:r>
            <a:endParaRPr b="1">
              <a:solidFill>
                <a:srgbClr val="A2EAEA"/>
              </a:solidFill>
              <a:latin typeface="Georgia"/>
              <a:ea typeface="Georgia"/>
              <a:cs typeface="Georgia"/>
              <a:sym typeface="Georgia"/>
            </a:endParaRPr>
          </a:p>
        </p:txBody>
      </p:sp>
      <p:sp>
        <p:nvSpPr>
          <p:cNvPr id="159" name="Google Shape;159;g3984c733a10_0_50"/>
          <p:cNvSpPr txBox="1"/>
          <p:nvPr>
            <p:ph idx="1" type="body"/>
          </p:nvPr>
        </p:nvSpPr>
        <p:spPr>
          <a:xfrm>
            <a:off x="457200" y="1199050"/>
            <a:ext cx="8229600" cy="50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500">
                <a:solidFill>
                  <a:schemeClr val="lt1"/>
                </a:solidFill>
              </a:rPr>
              <a:t>Sobre los diferentes Formatos, en donde no necesariamente mayor </a:t>
            </a:r>
            <a:r>
              <a:rPr lang="en-US" sz="1500">
                <a:solidFill>
                  <a:schemeClr val="lt1"/>
                </a:solidFill>
              </a:rPr>
              <a:t>número</a:t>
            </a:r>
            <a:r>
              <a:rPr lang="en-US" sz="1500">
                <a:solidFill>
                  <a:schemeClr val="lt1"/>
                </a:solidFill>
              </a:rPr>
              <a:t> de unidades vendidas es proporcional al  valor total de ventas.</a:t>
            </a:r>
            <a:endParaRPr sz="1500">
              <a:solidFill>
                <a:schemeClr val="lt1"/>
              </a:solidFill>
            </a:endParaRPr>
          </a:p>
        </p:txBody>
      </p:sp>
      <p:pic>
        <p:nvPicPr>
          <p:cNvPr id="160" name="Google Shape;160;g3984c733a10_0_50"/>
          <p:cNvPicPr preferRelativeResize="0"/>
          <p:nvPr/>
        </p:nvPicPr>
        <p:blipFill>
          <a:blip r:embed="rId3">
            <a:alphaModFix/>
          </a:blip>
          <a:stretch>
            <a:fillRect/>
          </a:stretch>
        </p:blipFill>
        <p:spPr>
          <a:xfrm>
            <a:off x="152400" y="2076450"/>
            <a:ext cx="4409096" cy="3833250"/>
          </a:xfrm>
          <a:prstGeom prst="rect">
            <a:avLst/>
          </a:prstGeom>
          <a:noFill/>
          <a:ln>
            <a:noFill/>
          </a:ln>
        </p:spPr>
      </p:pic>
      <p:pic>
        <p:nvPicPr>
          <p:cNvPr id="161" name="Google Shape;161;g3984c733a10_0_50"/>
          <p:cNvPicPr preferRelativeResize="0"/>
          <p:nvPr/>
        </p:nvPicPr>
        <p:blipFill>
          <a:blip r:embed="rId4">
            <a:alphaModFix/>
          </a:blip>
          <a:stretch>
            <a:fillRect/>
          </a:stretch>
        </p:blipFill>
        <p:spPr>
          <a:xfrm>
            <a:off x="4563625" y="2076450"/>
            <a:ext cx="4277701" cy="3870637"/>
          </a:xfrm>
          <a:prstGeom prst="rect">
            <a:avLst/>
          </a:prstGeom>
          <a:noFill/>
          <a:ln>
            <a:noFill/>
          </a:ln>
        </p:spPr>
      </p:pic>
      <p:sp>
        <p:nvSpPr>
          <p:cNvPr id="162" name="Google Shape;162;g3984c733a10_0_50"/>
          <p:cNvSpPr txBox="1"/>
          <p:nvPr/>
        </p:nvSpPr>
        <p:spPr>
          <a:xfrm>
            <a:off x="286875" y="5909700"/>
            <a:ext cx="84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500">
                <a:solidFill>
                  <a:schemeClr val="lt1"/>
                </a:solidFill>
                <a:latin typeface="Calibri"/>
                <a:ea typeface="Calibri"/>
                <a:cs typeface="Calibri"/>
                <a:sym typeface="Calibri"/>
              </a:rPr>
              <a:t>E</a:t>
            </a:r>
            <a:r>
              <a:rPr b="1" lang="en-US" sz="1500">
                <a:solidFill>
                  <a:schemeClr val="lt1"/>
                </a:solidFill>
                <a:latin typeface="Calibri"/>
                <a:ea typeface="Calibri"/>
                <a:cs typeface="Calibri"/>
                <a:sym typeface="Calibri"/>
              </a:rPr>
              <a:t>l formato de productos, 'BARRA' es con diferencia significativa el formato más vendido</a:t>
            </a:r>
            <a:endParaRPr b="1" sz="15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080"/>
        </a:solidFill>
      </p:bgPr>
    </p:bg>
    <p:spTree>
      <p:nvGrpSpPr>
        <p:cNvPr id="166" name="Shape 166"/>
        <p:cNvGrpSpPr/>
        <p:nvPr/>
      </p:nvGrpSpPr>
      <p:grpSpPr>
        <a:xfrm>
          <a:off x="0" y="0"/>
          <a:ext cx="0" cy="0"/>
          <a:chOff x="0" y="0"/>
          <a:chExt cx="0" cy="0"/>
        </a:xfrm>
      </p:grpSpPr>
      <p:sp>
        <p:nvSpPr>
          <p:cNvPr id="167" name="Google Shape;167;g3984c733a10_0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3200"/>
              <a:buFont typeface="Calibri"/>
              <a:buNone/>
            </a:pPr>
            <a:r>
              <a:rPr b="1" lang="en-US" sz="3200">
                <a:solidFill>
                  <a:srgbClr val="F69CDB"/>
                </a:solidFill>
                <a:latin typeface="Georgia"/>
                <a:ea typeface="Georgia"/>
                <a:cs typeface="Georgia"/>
                <a:sym typeface="Georgia"/>
              </a:rPr>
              <a:t>Resumen de Insights </a:t>
            </a:r>
            <a:r>
              <a:rPr b="1" lang="en-US" sz="3200">
                <a:solidFill>
                  <a:srgbClr val="F69CDB"/>
                </a:solidFill>
                <a:latin typeface="Georgia"/>
                <a:ea typeface="Georgia"/>
                <a:cs typeface="Georgia"/>
                <a:sym typeface="Georgia"/>
              </a:rPr>
              <a:t>después</a:t>
            </a:r>
            <a:r>
              <a:rPr b="1" lang="en-US" sz="3200">
                <a:solidFill>
                  <a:srgbClr val="F69CDB"/>
                </a:solidFill>
                <a:latin typeface="Georgia"/>
                <a:ea typeface="Georgia"/>
                <a:cs typeface="Georgia"/>
                <a:sym typeface="Georgia"/>
              </a:rPr>
              <a:t> del DEA:</a:t>
            </a:r>
            <a:endParaRPr b="1">
              <a:solidFill>
                <a:srgbClr val="F69CDB"/>
              </a:solidFill>
              <a:latin typeface="Georgia"/>
              <a:ea typeface="Georgia"/>
              <a:cs typeface="Georgia"/>
              <a:sym typeface="Georgia"/>
            </a:endParaRPr>
          </a:p>
        </p:txBody>
      </p:sp>
      <p:sp>
        <p:nvSpPr>
          <p:cNvPr id="168" name="Google Shape;168;g3984c733a10_0_63"/>
          <p:cNvSpPr txBox="1"/>
          <p:nvPr/>
        </p:nvSpPr>
        <p:spPr>
          <a:xfrm>
            <a:off x="870975" y="1581600"/>
            <a:ext cx="7541100" cy="49293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100"/>
              </a:spcBef>
              <a:spcAft>
                <a:spcPts val="0"/>
              </a:spcAft>
              <a:buClr>
                <a:schemeClr val="lt1"/>
              </a:buClr>
              <a:buSzPts val="1500"/>
              <a:buFont typeface="Calibri"/>
              <a:buAutoNum type="arabicPeriod"/>
            </a:pPr>
            <a:r>
              <a:rPr lang="en-US" sz="1500">
                <a:solidFill>
                  <a:schemeClr val="lt1"/>
                </a:solidFill>
                <a:latin typeface="Calibri"/>
                <a:ea typeface="Calibri"/>
                <a:cs typeface="Calibri"/>
                <a:sym typeface="Calibri"/>
              </a:rPr>
              <a:t>La mejor semana de ventas fue la semana 22 del año 2023</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AutoNum type="arabicPeriod"/>
            </a:pPr>
            <a:r>
              <a:rPr lang="en-US" sz="1500">
                <a:solidFill>
                  <a:schemeClr val="lt1"/>
                </a:solidFill>
                <a:latin typeface="Calibri"/>
                <a:ea typeface="Calibri"/>
                <a:cs typeface="Calibri"/>
                <a:sym typeface="Calibri"/>
              </a:rPr>
              <a:t>La Frecuencia con la que se venden más de </a:t>
            </a:r>
            <a:r>
              <a:rPr lang="en-US" sz="1500">
                <a:solidFill>
                  <a:schemeClr val="lt1"/>
                </a:solidFill>
                <a:latin typeface="Calibri"/>
                <a:ea typeface="Calibri"/>
                <a:cs typeface="Calibri"/>
                <a:sym typeface="Calibri"/>
              </a:rPr>
              <a:t>100K</a:t>
            </a:r>
            <a:r>
              <a:rPr lang="en-US" sz="1500">
                <a:solidFill>
                  <a:schemeClr val="lt1"/>
                </a:solidFill>
                <a:latin typeface="Calibri"/>
                <a:ea typeface="Calibri"/>
                <a:cs typeface="Calibri"/>
                <a:sym typeface="Calibri"/>
              </a:rPr>
              <a:t> productos (del mismo producto) semanalmente es casi nula.</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AutoNum type="arabicPeriod"/>
            </a:pPr>
            <a:r>
              <a:rPr lang="en-US" sz="1500">
                <a:solidFill>
                  <a:schemeClr val="lt1"/>
                </a:solidFill>
                <a:latin typeface="Calibri"/>
                <a:ea typeface="Calibri"/>
                <a:cs typeface="Calibri"/>
                <a:sym typeface="Calibri"/>
              </a:rPr>
              <a:t>Parece que la marca </a:t>
            </a:r>
            <a:r>
              <a:rPr b="1" lang="en-US" sz="1500">
                <a:solidFill>
                  <a:schemeClr val="lt1"/>
                </a:solidFill>
                <a:latin typeface="Calibri"/>
                <a:ea typeface="Calibri"/>
                <a:cs typeface="Calibri"/>
                <a:sym typeface="Calibri"/>
              </a:rPr>
              <a:t>vanish</a:t>
            </a:r>
            <a:r>
              <a:rPr lang="en-US" sz="1500">
                <a:solidFill>
                  <a:schemeClr val="lt1"/>
                </a:solidFill>
                <a:latin typeface="Calibri"/>
                <a:ea typeface="Calibri"/>
                <a:cs typeface="Calibri"/>
                <a:sym typeface="Calibri"/>
              </a:rPr>
              <a:t> fue la que más productos tuvo en el mercado, sobre todo en el año 2022. reduciendo considerablemente para el siguiente año.</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AutoNum type="arabicPeriod"/>
            </a:pPr>
            <a:r>
              <a:rPr lang="en-US" sz="1500">
                <a:solidFill>
                  <a:schemeClr val="lt1"/>
                </a:solidFill>
                <a:latin typeface="Calibri"/>
                <a:ea typeface="Calibri"/>
                <a:cs typeface="Calibri"/>
                <a:sym typeface="Calibri"/>
              </a:rPr>
              <a:t>El 2023 fue un mejor año para las ventas de Cloro. Probablemente se deba al contexto social.</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AutoNum type="arabicPeriod"/>
            </a:pPr>
            <a:r>
              <a:rPr lang="en-US" sz="1500">
                <a:solidFill>
                  <a:schemeClr val="lt1"/>
                </a:solidFill>
                <a:latin typeface="Calibri"/>
                <a:ea typeface="Calibri"/>
                <a:cs typeface="Calibri"/>
                <a:sym typeface="Calibri"/>
              </a:rPr>
              <a:t>El 2023 </a:t>
            </a:r>
            <a:r>
              <a:rPr lang="en-US" sz="1500">
                <a:solidFill>
                  <a:schemeClr val="lt1"/>
                </a:solidFill>
                <a:latin typeface="Calibri"/>
                <a:ea typeface="Calibri"/>
                <a:cs typeface="Calibri"/>
                <a:sym typeface="Calibri"/>
              </a:rPr>
              <a:t>está</a:t>
            </a:r>
            <a:r>
              <a:rPr lang="en-US" sz="1500">
                <a:solidFill>
                  <a:schemeClr val="lt1"/>
                </a:solidFill>
                <a:latin typeface="Calibri"/>
                <a:ea typeface="Calibri"/>
                <a:cs typeface="Calibri"/>
                <a:sym typeface="Calibri"/>
              </a:rPr>
              <a:t> por encima de las ventas y, sigue un </a:t>
            </a:r>
            <a:r>
              <a:rPr lang="en-US" sz="1500">
                <a:solidFill>
                  <a:schemeClr val="lt1"/>
                </a:solidFill>
                <a:latin typeface="Calibri"/>
                <a:ea typeface="Calibri"/>
                <a:cs typeface="Calibri"/>
                <a:sym typeface="Calibri"/>
              </a:rPr>
              <a:t>patrón</a:t>
            </a:r>
            <a:r>
              <a:rPr lang="en-US" sz="1500">
                <a:solidFill>
                  <a:schemeClr val="lt1"/>
                </a:solidFill>
                <a:latin typeface="Calibri"/>
                <a:ea typeface="Calibri"/>
                <a:cs typeface="Calibri"/>
                <a:sym typeface="Calibri"/>
              </a:rPr>
              <a:t> parecido, sin embargo no existe registro a mitad del año aproximadamente.</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AutoNum type="arabicPeriod"/>
            </a:pPr>
            <a:r>
              <a:rPr lang="en-US" sz="1500">
                <a:solidFill>
                  <a:schemeClr val="lt1"/>
                </a:solidFill>
                <a:latin typeface="Calibri"/>
                <a:ea typeface="Calibri"/>
                <a:cs typeface="Calibri"/>
                <a:sym typeface="Calibri"/>
              </a:rPr>
              <a:t>Todas las Regiones siguen los mismos patrones de ventas, sin embargo, AUTOS SCANNING </a:t>
            </a:r>
            <a:r>
              <a:rPr lang="en-US" sz="1500">
                <a:solidFill>
                  <a:schemeClr val="lt1"/>
                </a:solidFill>
                <a:latin typeface="Calibri"/>
                <a:ea typeface="Calibri"/>
                <a:cs typeface="Calibri"/>
                <a:sym typeface="Calibri"/>
              </a:rPr>
              <a:t>MÉXICO</a:t>
            </a:r>
            <a:r>
              <a:rPr lang="en-US" sz="1500">
                <a:solidFill>
                  <a:schemeClr val="lt1"/>
                </a:solidFill>
                <a:latin typeface="Calibri"/>
                <a:ea typeface="Calibri"/>
                <a:cs typeface="Calibri"/>
                <a:sym typeface="Calibri"/>
              </a:rPr>
              <a:t> ha sido por gran diferencia el </a:t>
            </a:r>
            <a:r>
              <a:rPr lang="en-US" sz="1500">
                <a:solidFill>
                  <a:schemeClr val="lt1"/>
                </a:solidFill>
                <a:latin typeface="Calibri"/>
                <a:ea typeface="Calibri"/>
                <a:cs typeface="Calibri"/>
                <a:sym typeface="Calibri"/>
              </a:rPr>
              <a:t>área</a:t>
            </a:r>
            <a:r>
              <a:rPr lang="en-US" sz="1500">
                <a:solidFill>
                  <a:schemeClr val="lt1"/>
                </a:solidFill>
                <a:latin typeface="Calibri"/>
                <a:ea typeface="Calibri"/>
                <a:cs typeface="Calibri"/>
                <a:sym typeface="Calibri"/>
              </a:rPr>
              <a:t> que más ventas tiene, superando con el triple o más al resto.</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AutoNum type="arabicPeriod"/>
            </a:pPr>
            <a:r>
              <a:rPr lang="en-US" sz="1500">
                <a:solidFill>
                  <a:schemeClr val="lt1"/>
                </a:solidFill>
                <a:latin typeface="Calibri"/>
                <a:ea typeface="Calibri"/>
                <a:cs typeface="Calibri"/>
                <a:sym typeface="Calibri"/>
              </a:rPr>
              <a:t>BARRA' es con diferencia significativa el formato más vendido. Sin embargo, no es el que más valor deja.. el formato Líquido deja más valor </a:t>
            </a:r>
            <a:r>
              <a:rPr lang="en-US" sz="1500">
                <a:solidFill>
                  <a:schemeClr val="lt1"/>
                </a:solidFill>
                <a:latin typeface="Calibri"/>
                <a:ea typeface="Calibri"/>
                <a:cs typeface="Calibri"/>
                <a:sym typeface="Calibri"/>
              </a:rPr>
              <a:t>rebasando</a:t>
            </a:r>
            <a:r>
              <a:rPr lang="en-US" sz="1500">
                <a:solidFill>
                  <a:schemeClr val="lt1"/>
                </a:solidFill>
                <a:latin typeface="Calibri"/>
                <a:ea typeface="Calibri"/>
                <a:cs typeface="Calibri"/>
                <a:sym typeface="Calibri"/>
              </a:rPr>
              <a:t> a los </a:t>
            </a:r>
            <a:r>
              <a:rPr lang="en-US" sz="1500">
                <a:solidFill>
                  <a:schemeClr val="lt1"/>
                </a:solidFill>
                <a:latin typeface="Calibri"/>
                <a:ea typeface="Calibri"/>
                <a:cs typeface="Calibri"/>
                <a:sym typeface="Calibri"/>
              </a:rPr>
              <a:t>más</a:t>
            </a:r>
            <a:r>
              <a:rPr lang="en-US" sz="1500">
                <a:solidFill>
                  <a:schemeClr val="lt1"/>
                </a:solidFill>
                <a:latin typeface="Calibri"/>
                <a:ea typeface="Calibri"/>
                <a:cs typeface="Calibri"/>
                <a:sym typeface="Calibri"/>
              </a:rPr>
              <a:t> vendidos.</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AutoNum type="arabicPeriod"/>
            </a:pPr>
            <a:r>
              <a:rPr lang="en-US" sz="1500">
                <a:solidFill>
                  <a:schemeClr val="lt1"/>
                </a:solidFill>
                <a:latin typeface="Calibri"/>
                <a:ea typeface="Calibri"/>
                <a:cs typeface="Calibri"/>
                <a:sym typeface="Calibri"/>
              </a:rPr>
              <a:t>Casi nadie elige comprar el formato de cloro en toallas limpiadoras.</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AutoNum type="arabicPeriod"/>
            </a:pPr>
            <a:r>
              <a:rPr lang="en-US" sz="1500">
                <a:solidFill>
                  <a:schemeClr val="lt1"/>
                </a:solidFill>
                <a:latin typeface="Calibri"/>
                <a:ea typeface="Calibri"/>
                <a:cs typeface="Calibri"/>
                <a:sym typeface="Calibri"/>
              </a:rPr>
              <a:t>Al observar las ventas semanales en las diferentes regiones, tomando en cuenta la variable año, aunque las regiones siguen el mismo </a:t>
            </a:r>
            <a:r>
              <a:rPr lang="en-US" sz="1500">
                <a:solidFill>
                  <a:schemeClr val="lt1"/>
                </a:solidFill>
                <a:latin typeface="Calibri"/>
                <a:ea typeface="Calibri"/>
                <a:cs typeface="Calibri"/>
                <a:sym typeface="Calibri"/>
              </a:rPr>
              <a:t>patrón</a:t>
            </a:r>
            <a:r>
              <a:rPr lang="en-US" sz="1500">
                <a:solidFill>
                  <a:schemeClr val="lt1"/>
                </a:solidFill>
                <a:latin typeface="Calibri"/>
                <a:ea typeface="Calibri"/>
                <a:cs typeface="Calibri"/>
                <a:sym typeface="Calibri"/>
              </a:rPr>
              <a:t>, las areas 3, 4 y 5 sí lograron superar sus ventas para el año 2023.</a:t>
            </a:r>
            <a:endParaRPr sz="15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9f970434a2_0_13"/>
          <p:cNvSpPr txBox="1"/>
          <p:nvPr/>
        </p:nvSpPr>
        <p:spPr>
          <a:xfrm>
            <a:off x="10300" y="800"/>
            <a:ext cx="3797700" cy="6858000"/>
          </a:xfrm>
          <a:prstGeom prst="rect">
            <a:avLst/>
          </a:prstGeom>
          <a:solidFill>
            <a:srgbClr val="E73278"/>
          </a:solid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t/>
            </a:r>
            <a:endParaRPr b="1" sz="1500">
              <a:solidFill>
                <a:schemeClr val="dk1"/>
              </a:solidFill>
              <a:latin typeface="Roboto"/>
              <a:ea typeface="Roboto"/>
              <a:cs typeface="Roboto"/>
              <a:sym typeface="Roboto"/>
            </a:endParaRPr>
          </a:p>
          <a:p>
            <a:pPr indent="0" lvl="0" marL="0" rtl="0" algn="r">
              <a:lnSpc>
                <a:spcPct val="115000"/>
              </a:lnSpc>
              <a:spcBef>
                <a:spcPts val="0"/>
              </a:spcBef>
              <a:spcAft>
                <a:spcPts val="0"/>
              </a:spcAft>
              <a:buClr>
                <a:schemeClr val="dk1"/>
              </a:buClr>
              <a:buSzPts val="1100"/>
              <a:buFont typeface="Arial"/>
              <a:buNone/>
            </a:pPr>
            <a:r>
              <a:rPr lang="en-US" sz="1500">
                <a:solidFill>
                  <a:schemeClr val="lt1"/>
                </a:solidFill>
                <a:latin typeface="Roboto"/>
                <a:ea typeface="Roboto"/>
                <a:cs typeface="Roboto"/>
                <a:sym typeface="Roboto"/>
              </a:rPr>
              <a:t>El Dataset ya contiene una columna llamada </a:t>
            </a:r>
            <a:r>
              <a:rPr b="1" lang="en-US" sz="1500">
                <a:solidFill>
                  <a:schemeClr val="lt1"/>
                </a:solidFill>
                <a:latin typeface="Roboto"/>
                <a:ea typeface="Roboto"/>
                <a:cs typeface="Roboto"/>
                <a:sym typeface="Roboto"/>
              </a:rPr>
              <a:t>Segmento</a:t>
            </a:r>
            <a:r>
              <a:rPr lang="en-US" sz="1500">
                <a:solidFill>
                  <a:schemeClr val="lt1"/>
                </a:solidFill>
                <a:latin typeface="Roboto"/>
                <a:ea typeface="Roboto"/>
                <a:cs typeface="Roboto"/>
                <a:sym typeface="Roboto"/>
              </a:rPr>
              <a:t> de acuerdo al tipo de producto que es</a:t>
            </a:r>
            <a:r>
              <a:rPr b="1" lang="en-US" sz="1500">
                <a:solidFill>
                  <a:schemeClr val="lt1"/>
                </a:solidFill>
                <a:latin typeface="Roboto"/>
                <a:ea typeface="Roboto"/>
                <a:cs typeface="Roboto"/>
                <a:sym typeface="Roboto"/>
              </a:rPr>
              <a:t>.</a:t>
            </a:r>
            <a:endParaRPr b="1" sz="1500">
              <a:solidFill>
                <a:schemeClr val="lt1"/>
              </a:solidFill>
              <a:latin typeface="Roboto"/>
              <a:ea typeface="Roboto"/>
              <a:cs typeface="Roboto"/>
              <a:sym typeface="Roboto"/>
            </a:endParaRPr>
          </a:p>
          <a:p>
            <a:pPr indent="0" lvl="0" marL="0" rtl="0" algn="r">
              <a:lnSpc>
                <a:spcPct val="115000"/>
              </a:lnSpc>
              <a:spcBef>
                <a:spcPts val="0"/>
              </a:spcBef>
              <a:spcAft>
                <a:spcPts val="0"/>
              </a:spcAft>
              <a:buClr>
                <a:schemeClr val="dk1"/>
              </a:buClr>
              <a:buSzPts val="1100"/>
              <a:buFont typeface="Arial"/>
              <a:buNone/>
            </a:pPr>
            <a:r>
              <a:t/>
            </a:r>
            <a:endParaRPr b="1" sz="1500">
              <a:solidFill>
                <a:schemeClr val="lt1"/>
              </a:solidFill>
              <a:latin typeface="Roboto"/>
              <a:ea typeface="Roboto"/>
              <a:cs typeface="Roboto"/>
              <a:sym typeface="Roboto"/>
            </a:endParaRPr>
          </a:p>
          <a:p>
            <a:pPr indent="0" lvl="0" marL="0" rtl="0" algn="r">
              <a:lnSpc>
                <a:spcPct val="115000"/>
              </a:lnSpc>
              <a:spcBef>
                <a:spcPts val="0"/>
              </a:spcBef>
              <a:spcAft>
                <a:spcPts val="0"/>
              </a:spcAft>
              <a:buClr>
                <a:schemeClr val="dk1"/>
              </a:buClr>
              <a:buSzPts val="1100"/>
              <a:buFont typeface="Arial"/>
              <a:buNone/>
            </a:pPr>
            <a:r>
              <a:rPr lang="en-US" sz="1500">
                <a:solidFill>
                  <a:schemeClr val="lt1"/>
                </a:solidFill>
                <a:latin typeface="Roboto"/>
                <a:ea typeface="Roboto"/>
                <a:cs typeface="Roboto"/>
                <a:sym typeface="Roboto"/>
              </a:rPr>
              <a:t>Debido a esto, nuestra agrupación se basará esclusivamente en los</a:t>
            </a:r>
            <a:r>
              <a:rPr b="1" lang="en-US" sz="1500">
                <a:solidFill>
                  <a:schemeClr val="lt1"/>
                </a:solidFill>
                <a:latin typeface="Roboto"/>
                <a:ea typeface="Roboto"/>
                <a:cs typeface="Roboto"/>
                <a:sym typeface="Roboto"/>
              </a:rPr>
              <a:t> datos numericos,</a:t>
            </a:r>
            <a:r>
              <a:rPr lang="en-US" sz="1500">
                <a:solidFill>
                  <a:schemeClr val="lt1"/>
                </a:solidFill>
                <a:latin typeface="Roboto"/>
                <a:ea typeface="Roboto"/>
                <a:cs typeface="Roboto"/>
                <a:sym typeface="Roboto"/>
              </a:rPr>
              <a:t> es decir, en las</a:t>
            </a:r>
            <a:r>
              <a:rPr b="1" lang="en-US" sz="1500">
                <a:solidFill>
                  <a:schemeClr val="lt1"/>
                </a:solidFill>
                <a:latin typeface="Roboto"/>
                <a:ea typeface="Roboto"/>
                <a:cs typeface="Roboto"/>
                <a:sym typeface="Roboto"/>
              </a:rPr>
              <a:t> Ventas del producto.</a:t>
            </a:r>
            <a:endParaRPr b="1" sz="1500">
              <a:solidFill>
                <a:schemeClr val="lt1"/>
              </a:solidFill>
              <a:latin typeface="Roboto"/>
              <a:ea typeface="Roboto"/>
              <a:cs typeface="Roboto"/>
              <a:sym typeface="Roboto"/>
            </a:endParaRPr>
          </a:p>
        </p:txBody>
      </p:sp>
      <p:sp>
        <p:nvSpPr>
          <p:cNvPr id="174" name="Google Shape;174;g39f970434a2_0_13"/>
          <p:cNvSpPr txBox="1"/>
          <p:nvPr>
            <p:ph type="title"/>
          </p:nvPr>
        </p:nvSpPr>
        <p:spPr>
          <a:xfrm>
            <a:off x="10300" y="864450"/>
            <a:ext cx="4207800" cy="1679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000">
                <a:solidFill>
                  <a:schemeClr val="lt1"/>
                </a:solidFill>
                <a:latin typeface="Georgia"/>
                <a:ea typeface="Georgia"/>
                <a:cs typeface="Georgia"/>
                <a:sym typeface="Georgia"/>
              </a:rPr>
              <a:t>Segmentación con K-Means:</a:t>
            </a:r>
            <a:endParaRPr b="1" sz="3000">
              <a:solidFill>
                <a:schemeClr val="lt1"/>
              </a:solidFill>
              <a:latin typeface="Georgia"/>
              <a:ea typeface="Georgia"/>
              <a:cs typeface="Georgia"/>
              <a:sym typeface="Georgia"/>
            </a:endParaRPr>
          </a:p>
        </p:txBody>
      </p:sp>
      <p:pic>
        <p:nvPicPr>
          <p:cNvPr id="175" name="Google Shape;175;g39f970434a2_0_13"/>
          <p:cNvPicPr preferRelativeResize="0"/>
          <p:nvPr/>
        </p:nvPicPr>
        <p:blipFill>
          <a:blip r:embed="rId3">
            <a:alphaModFix/>
          </a:blip>
          <a:stretch>
            <a:fillRect/>
          </a:stretch>
        </p:blipFill>
        <p:spPr>
          <a:xfrm>
            <a:off x="4356839" y="275352"/>
            <a:ext cx="4467225" cy="1657350"/>
          </a:xfrm>
          <a:prstGeom prst="rect">
            <a:avLst/>
          </a:prstGeom>
          <a:noFill/>
          <a:ln>
            <a:noFill/>
          </a:ln>
        </p:spPr>
      </p:pic>
      <p:pic>
        <p:nvPicPr>
          <p:cNvPr id="176" name="Google Shape;176;g39f970434a2_0_13"/>
          <p:cNvPicPr preferRelativeResize="0"/>
          <p:nvPr/>
        </p:nvPicPr>
        <p:blipFill>
          <a:blip r:embed="rId4">
            <a:alphaModFix/>
          </a:blip>
          <a:stretch>
            <a:fillRect/>
          </a:stretch>
        </p:blipFill>
        <p:spPr>
          <a:xfrm>
            <a:off x="4192643" y="2134091"/>
            <a:ext cx="4648200" cy="3905250"/>
          </a:xfrm>
          <a:prstGeom prst="rect">
            <a:avLst/>
          </a:prstGeom>
          <a:noFill/>
          <a:ln>
            <a:noFill/>
          </a:ln>
        </p:spPr>
      </p:pic>
      <p:pic>
        <p:nvPicPr>
          <p:cNvPr id="177" name="Google Shape;177;g39f970434a2_0_13"/>
          <p:cNvPicPr preferRelativeResize="0"/>
          <p:nvPr/>
        </p:nvPicPr>
        <p:blipFill>
          <a:blip r:embed="rId5">
            <a:alphaModFix/>
          </a:blip>
          <a:stretch>
            <a:fillRect/>
          </a:stretch>
        </p:blipFill>
        <p:spPr>
          <a:xfrm>
            <a:off x="5845175" y="2544152"/>
            <a:ext cx="2838450" cy="638175"/>
          </a:xfrm>
          <a:prstGeom prst="rect">
            <a:avLst/>
          </a:prstGeom>
          <a:noFill/>
          <a:ln>
            <a:noFill/>
          </a:ln>
        </p:spPr>
      </p:pic>
      <p:sp>
        <p:nvSpPr>
          <p:cNvPr id="178" name="Google Shape;178;g39f970434a2_0_13"/>
          <p:cNvSpPr txBox="1"/>
          <p:nvPr/>
        </p:nvSpPr>
        <p:spPr>
          <a:xfrm>
            <a:off x="3808000" y="6027800"/>
            <a:ext cx="53361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a:solidFill>
                  <a:schemeClr val="dk1"/>
                </a:solidFill>
              </a:rPr>
              <a:t>Fue muy positivo revisar el criterio de silueta, se podría mal interpretar el codo a 3 clusters, cuando, 2 clusters miden mejor las distancias entre los puntos y los centroides.</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9f970434a2_0_0"/>
          <p:cNvSpPr/>
          <p:nvPr/>
        </p:nvSpPr>
        <p:spPr>
          <a:xfrm>
            <a:off x="4572000" y="-12"/>
            <a:ext cx="4575300" cy="6858000"/>
          </a:xfrm>
          <a:prstGeom prst="rect">
            <a:avLst/>
          </a:prstGeom>
          <a:solidFill>
            <a:srgbClr val="00808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Debido a que la presentación en 2D de las graficos mostraban visualmente posibles divisiones ó grupos, se experimento con 5 clusters.</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El hallazgo fue que los grupos siguen dividiendose de acuerdo a los precios, es decir los grupos van de menos a más.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Esto puede resultar conveniente para la empresa, dependiendo el porcetanje de productos que desee modificar o eliminar, puede hacerse una segmentación para elegir a los menos exitosos.</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rPr lang="en-US">
                <a:solidFill>
                  <a:schemeClr val="lt1"/>
                </a:solidFill>
                <a:latin typeface="Roboto"/>
                <a:ea typeface="Roboto"/>
                <a:cs typeface="Roboto"/>
                <a:sym typeface="Roboto"/>
              </a:rPr>
              <a:t>Para fines de este estudio nos quedaremos con solo 2 clusters.</a:t>
            </a:r>
            <a:endParaRPr>
              <a:solidFill>
                <a:schemeClr val="lt1"/>
              </a:solidFill>
              <a:latin typeface="Roboto"/>
              <a:ea typeface="Roboto"/>
              <a:cs typeface="Roboto"/>
              <a:sym typeface="Roboto"/>
            </a:endParaRPr>
          </a:p>
        </p:txBody>
      </p:sp>
      <p:pic>
        <p:nvPicPr>
          <p:cNvPr id="184" name="Google Shape;184;g39f970434a2_0_0"/>
          <p:cNvPicPr preferRelativeResize="0"/>
          <p:nvPr/>
        </p:nvPicPr>
        <p:blipFill>
          <a:blip r:embed="rId3">
            <a:alphaModFix/>
          </a:blip>
          <a:stretch>
            <a:fillRect/>
          </a:stretch>
        </p:blipFill>
        <p:spPr>
          <a:xfrm>
            <a:off x="193400" y="202477"/>
            <a:ext cx="4267200" cy="3250816"/>
          </a:xfrm>
          <a:prstGeom prst="rect">
            <a:avLst/>
          </a:prstGeom>
          <a:noFill/>
          <a:ln>
            <a:noFill/>
          </a:ln>
        </p:spPr>
      </p:pic>
      <p:sp>
        <p:nvSpPr>
          <p:cNvPr id="185" name="Google Shape;185;g39f970434a2_0_0"/>
          <p:cNvSpPr txBox="1"/>
          <p:nvPr>
            <p:ph type="title"/>
          </p:nvPr>
        </p:nvSpPr>
        <p:spPr>
          <a:xfrm>
            <a:off x="4791725" y="384650"/>
            <a:ext cx="40062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8080"/>
              </a:buClr>
              <a:buSzPts val="3200"/>
              <a:buFont typeface="Calibri"/>
              <a:buNone/>
            </a:pPr>
            <a:r>
              <a:rPr b="1" lang="en-US" sz="3000">
                <a:solidFill>
                  <a:schemeClr val="lt1"/>
                </a:solidFill>
                <a:latin typeface="Georgia"/>
                <a:ea typeface="Georgia"/>
                <a:cs typeface="Georgia"/>
                <a:sym typeface="Georgia"/>
              </a:rPr>
              <a:t>Segmentación con K-Means:</a:t>
            </a:r>
            <a:endParaRPr b="1" sz="3500">
              <a:solidFill>
                <a:schemeClr val="lt1"/>
              </a:solidFill>
              <a:latin typeface="Georgia"/>
              <a:ea typeface="Georgia"/>
              <a:cs typeface="Georgia"/>
              <a:sym typeface="Georgia"/>
            </a:endParaRPr>
          </a:p>
        </p:txBody>
      </p:sp>
      <p:pic>
        <p:nvPicPr>
          <p:cNvPr id="186" name="Google Shape;186;g39f970434a2_0_0"/>
          <p:cNvPicPr preferRelativeResize="0"/>
          <p:nvPr/>
        </p:nvPicPr>
        <p:blipFill>
          <a:blip r:embed="rId4">
            <a:alphaModFix/>
          </a:blip>
          <a:stretch>
            <a:fillRect/>
          </a:stretch>
        </p:blipFill>
        <p:spPr>
          <a:xfrm>
            <a:off x="207061" y="3532512"/>
            <a:ext cx="4147551" cy="3164825"/>
          </a:xfrm>
          <a:prstGeom prst="rect">
            <a:avLst/>
          </a:prstGeom>
          <a:solidFill>
            <a:srgbClr val="008080"/>
          </a:solid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EAEA"/>
        </a:solidFill>
      </p:bgPr>
    </p:bg>
    <p:spTree>
      <p:nvGrpSpPr>
        <p:cNvPr id="190" name="Shape 190"/>
        <p:cNvGrpSpPr/>
        <p:nvPr/>
      </p:nvGrpSpPr>
      <p:grpSpPr>
        <a:xfrm>
          <a:off x="0" y="0"/>
          <a:ext cx="0" cy="0"/>
          <a:chOff x="0" y="0"/>
          <a:chExt cx="0" cy="0"/>
        </a:xfrm>
      </p:grpSpPr>
      <p:sp>
        <p:nvSpPr>
          <p:cNvPr id="191" name="Google Shape;191;g39f970434a2_0_34"/>
          <p:cNvSpPr txBox="1"/>
          <p:nvPr>
            <p:ph type="title"/>
          </p:nvPr>
        </p:nvSpPr>
        <p:spPr>
          <a:xfrm>
            <a:off x="224957" y="138024"/>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200">
                <a:solidFill>
                  <a:srgbClr val="E73278"/>
                </a:solidFill>
                <a:latin typeface="Georgia"/>
                <a:ea typeface="Georgia"/>
                <a:cs typeface="Georgia"/>
                <a:sym typeface="Georgia"/>
              </a:rPr>
              <a:t>Análisis de resultados:</a:t>
            </a:r>
            <a:endParaRPr b="1">
              <a:solidFill>
                <a:srgbClr val="E73278"/>
              </a:solidFill>
              <a:latin typeface="Georgia"/>
              <a:ea typeface="Georgia"/>
              <a:cs typeface="Georgia"/>
              <a:sym typeface="Georgia"/>
            </a:endParaRPr>
          </a:p>
        </p:txBody>
      </p:sp>
      <p:sp>
        <p:nvSpPr>
          <p:cNvPr id="192" name="Google Shape;192;g39f970434a2_0_34"/>
          <p:cNvSpPr txBox="1"/>
          <p:nvPr>
            <p:ph idx="1" type="body"/>
          </p:nvPr>
        </p:nvSpPr>
        <p:spPr>
          <a:xfrm>
            <a:off x="457200" y="1009925"/>
            <a:ext cx="6151500" cy="78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500"/>
              <a:t>El grupo 2 es el que posee mayor cantidad de unidades de ventas e ingresos. </a:t>
            </a:r>
            <a:endParaRPr sz="1500"/>
          </a:p>
          <a:p>
            <a:pPr indent="0" lvl="0" marL="0" rtl="0" algn="l">
              <a:lnSpc>
                <a:spcPct val="115000"/>
              </a:lnSpc>
              <a:spcBef>
                <a:spcPts val="1100"/>
              </a:spcBef>
              <a:spcAft>
                <a:spcPts val="0"/>
              </a:spcAft>
              <a:buClr>
                <a:schemeClr val="dk1"/>
              </a:buClr>
              <a:buSzPts val="1100"/>
              <a:buFont typeface="Arial"/>
              <a:buNone/>
            </a:pPr>
            <a:r>
              <a:rPr lang="en-US" sz="1500"/>
              <a:t>El grupo 1  es el que bien podría tener áreas de oportunidad.</a:t>
            </a:r>
            <a:endParaRPr sz="1500"/>
          </a:p>
          <a:p>
            <a:pPr indent="0" lvl="0" marL="0" rtl="0" algn="l">
              <a:spcBef>
                <a:spcPts val="1100"/>
              </a:spcBef>
              <a:spcAft>
                <a:spcPts val="0"/>
              </a:spcAft>
              <a:buNone/>
            </a:pPr>
            <a:r>
              <a:t/>
            </a:r>
            <a:endParaRPr sz="1500"/>
          </a:p>
        </p:txBody>
      </p:sp>
      <p:sp>
        <p:nvSpPr>
          <p:cNvPr id="193" name="Google Shape;193;g39f970434a2_0_34"/>
          <p:cNvSpPr txBox="1"/>
          <p:nvPr/>
        </p:nvSpPr>
        <p:spPr>
          <a:xfrm>
            <a:off x="457200" y="6062100"/>
            <a:ext cx="7804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latin typeface="Calibri"/>
                <a:ea typeface="Calibri"/>
                <a:cs typeface="Calibri"/>
                <a:sym typeface="Calibri"/>
              </a:rPr>
              <a:t>El grupo 1 se conforma por solo 1 formato Líquido. El grupo 2 tiene formatos variados.</a:t>
            </a:r>
            <a:endParaRPr b="1" sz="1500">
              <a:latin typeface="Calibri"/>
              <a:ea typeface="Calibri"/>
              <a:cs typeface="Calibri"/>
              <a:sym typeface="Calibri"/>
            </a:endParaRPr>
          </a:p>
        </p:txBody>
      </p:sp>
      <p:pic>
        <p:nvPicPr>
          <p:cNvPr id="194" name="Google Shape;194;g39f970434a2_0_34"/>
          <p:cNvPicPr preferRelativeResize="0"/>
          <p:nvPr/>
        </p:nvPicPr>
        <p:blipFill>
          <a:blip r:embed="rId3">
            <a:alphaModFix/>
          </a:blip>
          <a:stretch>
            <a:fillRect/>
          </a:stretch>
        </p:blipFill>
        <p:spPr>
          <a:xfrm>
            <a:off x="4769950" y="1994473"/>
            <a:ext cx="3228975" cy="352425"/>
          </a:xfrm>
          <a:prstGeom prst="rect">
            <a:avLst/>
          </a:prstGeom>
          <a:noFill/>
          <a:ln>
            <a:noFill/>
          </a:ln>
        </p:spPr>
      </p:pic>
      <p:pic>
        <p:nvPicPr>
          <p:cNvPr id="195" name="Google Shape;195;g39f970434a2_0_34"/>
          <p:cNvPicPr preferRelativeResize="0"/>
          <p:nvPr/>
        </p:nvPicPr>
        <p:blipFill>
          <a:blip r:embed="rId4">
            <a:alphaModFix/>
          </a:blip>
          <a:stretch>
            <a:fillRect/>
          </a:stretch>
        </p:blipFill>
        <p:spPr>
          <a:xfrm>
            <a:off x="1177000" y="1984948"/>
            <a:ext cx="3190875" cy="371475"/>
          </a:xfrm>
          <a:prstGeom prst="rect">
            <a:avLst/>
          </a:prstGeom>
          <a:noFill/>
          <a:ln>
            <a:noFill/>
          </a:ln>
        </p:spPr>
      </p:pic>
      <p:pic>
        <p:nvPicPr>
          <p:cNvPr id="196" name="Google Shape;196;g39f970434a2_0_34"/>
          <p:cNvPicPr preferRelativeResize="0"/>
          <p:nvPr/>
        </p:nvPicPr>
        <p:blipFill>
          <a:blip r:embed="rId5">
            <a:alphaModFix/>
          </a:blip>
          <a:stretch>
            <a:fillRect/>
          </a:stretch>
        </p:blipFill>
        <p:spPr>
          <a:xfrm>
            <a:off x="152400" y="2508823"/>
            <a:ext cx="4391025" cy="3305175"/>
          </a:xfrm>
          <a:prstGeom prst="rect">
            <a:avLst/>
          </a:prstGeom>
          <a:noFill/>
          <a:ln>
            <a:noFill/>
          </a:ln>
        </p:spPr>
      </p:pic>
      <p:pic>
        <p:nvPicPr>
          <p:cNvPr id="197" name="Google Shape;197;g39f970434a2_0_34"/>
          <p:cNvPicPr preferRelativeResize="0"/>
          <p:nvPr/>
        </p:nvPicPr>
        <p:blipFill>
          <a:blip r:embed="rId6">
            <a:alphaModFix/>
          </a:blip>
          <a:stretch>
            <a:fillRect/>
          </a:stretch>
        </p:blipFill>
        <p:spPr>
          <a:xfrm>
            <a:off x="4695825" y="2499298"/>
            <a:ext cx="4295775" cy="332851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EAEA"/>
        </a:solidFill>
      </p:bgPr>
    </p:bg>
    <p:spTree>
      <p:nvGrpSpPr>
        <p:cNvPr id="201" name="Shape 201"/>
        <p:cNvGrpSpPr/>
        <p:nvPr/>
      </p:nvGrpSpPr>
      <p:grpSpPr>
        <a:xfrm>
          <a:off x="0" y="0"/>
          <a:ext cx="0" cy="0"/>
          <a:chOff x="0" y="0"/>
          <a:chExt cx="0" cy="0"/>
        </a:xfrm>
      </p:grpSpPr>
      <p:sp>
        <p:nvSpPr>
          <p:cNvPr id="202" name="Google Shape;202;g39f970434a2_0_46"/>
          <p:cNvSpPr txBox="1"/>
          <p:nvPr>
            <p:ph type="title"/>
          </p:nvPr>
        </p:nvSpPr>
        <p:spPr>
          <a:xfrm>
            <a:off x="224957" y="138024"/>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200">
                <a:solidFill>
                  <a:srgbClr val="E73278"/>
                </a:solidFill>
                <a:latin typeface="Georgia"/>
                <a:ea typeface="Georgia"/>
                <a:cs typeface="Georgia"/>
                <a:sym typeface="Georgia"/>
              </a:rPr>
              <a:t>Análisis de resultados:</a:t>
            </a:r>
            <a:endParaRPr b="1">
              <a:solidFill>
                <a:srgbClr val="E73278"/>
              </a:solidFill>
              <a:latin typeface="Georgia"/>
              <a:ea typeface="Georgia"/>
              <a:cs typeface="Georgia"/>
              <a:sym typeface="Georgia"/>
            </a:endParaRPr>
          </a:p>
        </p:txBody>
      </p:sp>
      <p:sp>
        <p:nvSpPr>
          <p:cNvPr id="203" name="Google Shape;203;g39f970434a2_0_46"/>
          <p:cNvSpPr txBox="1"/>
          <p:nvPr>
            <p:ph idx="1" type="body"/>
          </p:nvPr>
        </p:nvSpPr>
        <p:spPr>
          <a:xfrm>
            <a:off x="457200" y="1009925"/>
            <a:ext cx="6151500" cy="78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500"/>
              <a:t>El grupo 1 es el que posee mayor cantidad de unidades de ventas e ingresos. </a:t>
            </a:r>
            <a:endParaRPr sz="1500"/>
          </a:p>
          <a:p>
            <a:pPr indent="0" lvl="0" marL="0" rtl="0" algn="l">
              <a:lnSpc>
                <a:spcPct val="115000"/>
              </a:lnSpc>
              <a:spcBef>
                <a:spcPts val="1100"/>
              </a:spcBef>
              <a:spcAft>
                <a:spcPts val="0"/>
              </a:spcAft>
              <a:buNone/>
            </a:pPr>
            <a:r>
              <a:rPr lang="en-US" sz="1500"/>
              <a:t>El grupo 2 es el que bien podría tener áreas de oportunidad.</a:t>
            </a:r>
            <a:endParaRPr sz="1500"/>
          </a:p>
          <a:p>
            <a:pPr indent="0" lvl="0" marL="0" rtl="0" algn="l">
              <a:spcBef>
                <a:spcPts val="1100"/>
              </a:spcBef>
              <a:spcAft>
                <a:spcPts val="0"/>
              </a:spcAft>
              <a:buNone/>
            </a:pPr>
            <a:r>
              <a:t/>
            </a:r>
            <a:endParaRPr sz="1500"/>
          </a:p>
        </p:txBody>
      </p:sp>
      <p:sp>
        <p:nvSpPr>
          <p:cNvPr id="204" name="Google Shape;204;g39f970434a2_0_46"/>
          <p:cNvSpPr txBox="1"/>
          <p:nvPr/>
        </p:nvSpPr>
        <p:spPr>
          <a:xfrm>
            <a:off x="457200" y="6062100"/>
            <a:ext cx="7804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latin typeface="Calibri"/>
                <a:ea typeface="Calibri"/>
                <a:cs typeface="Calibri"/>
                <a:sym typeface="Calibri"/>
              </a:rPr>
              <a:t>El grupo 1 se conforma por solo 3 marcas. El grupo 2 muestra  a las marcas que más productos tienen.</a:t>
            </a:r>
            <a:endParaRPr b="1" sz="1500">
              <a:latin typeface="Calibri"/>
              <a:ea typeface="Calibri"/>
              <a:cs typeface="Calibri"/>
              <a:sym typeface="Calibri"/>
            </a:endParaRPr>
          </a:p>
        </p:txBody>
      </p:sp>
      <p:pic>
        <p:nvPicPr>
          <p:cNvPr id="205" name="Google Shape;205;g39f970434a2_0_46"/>
          <p:cNvPicPr preferRelativeResize="0"/>
          <p:nvPr/>
        </p:nvPicPr>
        <p:blipFill>
          <a:blip r:embed="rId3">
            <a:alphaModFix/>
          </a:blip>
          <a:stretch>
            <a:fillRect/>
          </a:stretch>
        </p:blipFill>
        <p:spPr>
          <a:xfrm>
            <a:off x="4879241" y="1994473"/>
            <a:ext cx="3228975" cy="352425"/>
          </a:xfrm>
          <a:prstGeom prst="rect">
            <a:avLst/>
          </a:prstGeom>
          <a:noFill/>
          <a:ln>
            <a:noFill/>
          </a:ln>
        </p:spPr>
      </p:pic>
      <p:pic>
        <p:nvPicPr>
          <p:cNvPr id="206" name="Google Shape;206;g39f970434a2_0_46"/>
          <p:cNvPicPr preferRelativeResize="0"/>
          <p:nvPr/>
        </p:nvPicPr>
        <p:blipFill>
          <a:blip r:embed="rId4">
            <a:alphaModFix/>
          </a:blip>
          <a:stretch>
            <a:fillRect/>
          </a:stretch>
        </p:blipFill>
        <p:spPr>
          <a:xfrm>
            <a:off x="1108693" y="1984948"/>
            <a:ext cx="3190875" cy="371475"/>
          </a:xfrm>
          <a:prstGeom prst="rect">
            <a:avLst/>
          </a:prstGeom>
          <a:noFill/>
          <a:ln>
            <a:noFill/>
          </a:ln>
        </p:spPr>
      </p:pic>
      <p:pic>
        <p:nvPicPr>
          <p:cNvPr id="207" name="Google Shape;207;g39f970434a2_0_46"/>
          <p:cNvPicPr preferRelativeResize="0"/>
          <p:nvPr/>
        </p:nvPicPr>
        <p:blipFill>
          <a:blip r:embed="rId5">
            <a:alphaModFix/>
          </a:blip>
          <a:stretch>
            <a:fillRect/>
          </a:stretch>
        </p:blipFill>
        <p:spPr>
          <a:xfrm>
            <a:off x="671525" y="2545000"/>
            <a:ext cx="3811063" cy="3328525"/>
          </a:xfrm>
          <a:prstGeom prst="rect">
            <a:avLst/>
          </a:prstGeom>
          <a:noFill/>
          <a:ln>
            <a:noFill/>
          </a:ln>
        </p:spPr>
      </p:pic>
      <p:pic>
        <p:nvPicPr>
          <p:cNvPr id="208" name="Google Shape;208;g39f970434a2_0_46"/>
          <p:cNvPicPr preferRelativeResize="0"/>
          <p:nvPr/>
        </p:nvPicPr>
        <p:blipFill>
          <a:blip r:embed="rId6">
            <a:alphaModFix/>
          </a:blip>
          <a:stretch>
            <a:fillRect/>
          </a:stretch>
        </p:blipFill>
        <p:spPr>
          <a:xfrm>
            <a:off x="4789550" y="2499298"/>
            <a:ext cx="3472159" cy="34104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3278"/>
        </a:solidFill>
      </p:bgPr>
    </p:bg>
    <p:spTree>
      <p:nvGrpSpPr>
        <p:cNvPr id="212" name="Shape 212"/>
        <p:cNvGrpSpPr/>
        <p:nvPr/>
      </p:nvGrpSpPr>
      <p:grpSpPr>
        <a:xfrm>
          <a:off x="0" y="0"/>
          <a:ext cx="0" cy="0"/>
          <a:chOff x="0" y="0"/>
          <a:chExt cx="0" cy="0"/>
        </a:xfrm>
      </p:grpSpPr>
      <p:sp>
        <p:nvSpPr>
          <p:cNvPr id="213" name="Google Shape;213;g39f970434a2_0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lang="en-US" sz="4000">
                <a:solidFill>
                  <a:schemeClr val="lt1"/>
                </a:solidFill>
                <a:latin typeface="Georgia"/>
                <a:ea typeface="Georgia"/>
                <a:cs typeface="Georgia"/>
                <a:sym typeface="Georgia"/>
              </a:rPr>
              <a:t>Insights del Clustering</a:t>
            </a:r>
            <a:r>
              <a:rPr lang="en-US" sz="4000">
                <a:solidFill>
                  <a:schemeClr val="lt1"/>
                </a:solidFill>
                <a:latin typeface="Georgia"/>
                <a:ea typeface="Georgia"/>
                <a:cs typeface="Georgia"/>
                <a:sym typeface="Georgia"/>
              </a:rPr>
              <a:t>:</a:t>
            </a:r>
            <a:endParaRPr sz="4000">
              <a:solidFill>
                <a:schemeClr val="lt1"/>
              </a:solidFill>
              <a:latin typeface="Georgia"/>
              <a:ea typeface="Georgia"/>
              <a:cs typeface="Georgia"/>
              <a:sym typeface="Georgia"/>
            </a:endParaRPr>
          </a:p>
        </p:txBody>
      </p:sp>
      <p:sp>
        <p:nvSpPr>
          <p:cNvPr id="214" name="Google Shape;214;g39f970434a2_0_63"/>
          <p:cNvSpPr txBox="1"/>
          <p:nvPr>
            <p:ph idx="1" type="body"/>
          </p:nvPr>
        </p:nvSpPr>
        <p:spPr>
          <a:xfrm>
            <a:off x="457200" y="1257650"/>
            <a:ext cx="8229600" cy="5382600"/>
          </a:xfrm>
          <a:prstGeom prst="rect">
            <a:avLst/>
          </a:prstGeom>
          <a:noFill/>
          <a:ln>
            <a:noFill/>
          </a:ln>
        </p:spPr>
        <p:txBody>
          <a:bodyPr anchorCtr="0" anchor="t" bIns="45700" lIns="91425" spcFirstLastPara="1" rIns="91425" wrap="square" tIns="45700">
            <a:normAutofit fontScale="77500" lnSpcReduction="10000"/>
          </a:bodyPr>
          <a:lstStyle/>
          <a:p>
            <a:pPr indent="0" lvl="0" marL="0" rtl="0" algn="ctr">
              <a:lnSpc>
                <a:spcPct val="115000"/>
              </a:lnSpc>
              <a:spcBef>
                <a:spcPts val="0"/>
              </a:spcBef>
              <a:spcAft>
                <a:spcPts val="0"/>
              </a:spcAft>
              <a:buNone/>
            </a:pPr>
            <a:r>
              <a:rPr lang="en-US" sz="2000">
                <a:solidFill>
                  <a:schemeClr val="lt1"/>
                </a:solidFill>
              </a:rPr>
              <a:t>1. Observamos que dentro del grupo 1 solamente hay un formato de producto y este es líquido. Sorpresa! a pesar de que ya se había notado que el Formato Barra es el más vendido, ahora se sabe que existen probablemente demasiados productos en formato líquido y algunos </a:t>
            </a:r>
            <a:r>
              <a:rPr lang="en-US" sz="2000">
                <a:solidFill>
                  <a:schemeClr val="lt1"/>
                </a:solidFill>
              </a:rPr>
              <a:t>podrían</a:t>
            </a:r>
            <a:r>
              <a:rPr lang="en-US" sz="2000">
                <a:solidFill>
                  <a:schemeClr val="lt1"/>
                </a:solidFill>
              </a:rPr>
              <a:t> no tener suficiente razn de ser.</a:t>
            </a:r>
            <a:endParaRPr sz="2000">
              <a:solidFill>
                <a:schemeClr val="lt1"/>
              </a:solidFill>
            </a:endParaRPr>
          </a:p>
          <a:p>
            <a:pPr indent="0" lvl="0" marL="0" rtl="0" algn="ctr">
              <a:lnSpc>
                <a:spcPct val="115000"/>
              </a:lnSpc>
              <a:spcBef>
                <a:spcPts val="0"/>
              </a:spcBef>
              <a:spcAft>
                <a:spcPts val="0"/>
              </a:spcAft>
              <a:buClr>
                <a:schemeClr val="dk1"/>
              </a:buClr>
              <a:buSzPct val="55000"/>
              <a:buFont typeface="Arial"/>
              <a:buNone/>
            </a:pPr>
            <a:r>
              <a:t/>
            </a:r>
            <a:endParaRPr sz="2000">
              <a:solidFill>
                <a:schemeClr val="lt1"/>
              </a:solidFill>
            </a:endParaRPr>
          </a:p>
          <a:p>
            <a:pPr indent="0" lvl="0" marL="0" rtl="0" algn="ctr">
              <a:lnSpc>
                <a:spcPct val="115000"/>
              </a:lnSpc>
              <a:spcBef>
                <a:spcPts val="0"/>
              </a:spcBef>
              <a:spcAft>
                <a:spcPts val="0"/>
              </a:spcAft>
              <a:buNone/>
            </a:pPr>
            <a:r>
              <a:rPr lang="en-US" sz="2000">
                <a:solidFill>
                  <a:schemeClr val="lt1"/>
                </a:solidFill>
              </a:rPr>
              <a:t>2. Adicional dentro de este grupo solamente han entrado 3 diferentes marcas. Las 3 de Cloro. Otra vez podrá representar un exceso de productos.</a:t>
            </a:r>
            <a:endParaRPr sz="2000">
              <a:solidFill>
                <a:schemeClr val="lt1"/>
              </a:solidFill>
            </a:endParaRPr>
          </a:p>
          <a:p>
            <a:pPr indent="0" lvl="0" marL="0" rtl="0" algn="ctr">
              <a:lnSpc>
                <a:spcPct val="115000"/>
              </a:lnSpc>
              <a:spcBef>
                <a:spcPts val="0"/>
              </a:spcBef>
              <a:spcAft>
                <a:spcPts val="0"/>
              </a:spcAft>
              <a:buClr>
                <a:schemeClr val="dk1"/>
              </a:buClr>
              <a:buSzPct val="55000"/>
              <a:buFont typeface="Arial"/>
              <a:buNone/>
            </a:pPr>
            <a:r>
              <a:t/>
            </a:r>
            <a:endParaRPr sz="2000">
              <a:solidFill>
                <a:schemeClr val="lt1"/>
              </a:solidFill>
            </a:endParaRPr>
          </a:p>
          <a:p>
            <a:pPr indent="0" lvl="0" marL="0" rtl="0" algn="ctr">
              <a:lnSpc>
                <a:spcPct val="115000"/>
              </a:lnSpc>
              <a:spcBef>
                <a:spcPts val="0"/>
              </a:spcBef>
              <a:spcAft>
                <a:spcPts val="0"/>
              </a:spcAft>
              <a:buNone/>
            </a:pPr>
            <a:r>
              <a:rPr lang="en-US" sz="2000">
                <a:solidFill>
                  <a:schemeClr val="lt1"/>
                </a:solidFill>
              </a:rPr>
              <a:t>3. Curioso de Cloralex aún siendo una marca tan buena segun los analisis, tiene tantos productos que aparecen en ambos grupos.</a:t>
            </a:r>
            <a:endParaRPr sz="2000">
              <a:solidFill>
                <a:schemeClr val="lt1"/>
              </a:solidFill>
            </a:endParaRPr>
          </a:p>
          <a:p>
            <a:pPr indent="0" lvl="0" marL="0" rtl="0" algn="ctr">
              <a:lnSpc>
                <a:spcPct val="115000"/>
              </a:lnSpc>
              <a:spcBef>
                <a:spcPts val="0"/>
              </a:spcBef>
              <a:spcAft>
                <a:spcPts val="0"/>
              </a:spcAft>
              <a:buClr>
                <a:schemeClr val="dk1"/>
              </a:buClr>
              <a:buSzPct val="55000"/>
              <a:buFont typeface="Arial"/>
              <a:buNone/>
            </a:pPr>
            <a:r>
              <a:t/>
            </a:r>
            <a:endParaRPr sz="2000">
              <a:solidFill>
                <a:schemeClr val="lt1"/>
              </a:solidFill>
            </a:endParaRPr>
          </a:p>
          <a:p>
            <a:pPr indent="0" lvl="0" marL="0" rtl="0" algn="ctr">
              <a:lnSpc>
                <a:spcPct val="115000"/>
              </a:lnSpc>
              <a:spcBef>
                <a:spcPts val="0"/>
              </a:spcBef>
              <a:spcAft>
                <a:spcPts val="0"/>
              </a:spcAft>
              <a:buNone/>
            </a:pPr>
            <a:r>
              <a:rPr lang="en-US" sz="2000">
                <a:solidFill>
                  <a:schemeClr val="lt1"/>
                </a:solidFill>
              </a:rPr>
              <a:t>4. Ya en el segundo tipo de gráfico donde se analizan las marcas y no solo el formato, observamos que son las marcas 'La japonesa', 'Vanish' y, 'Lysol' las que de tener 3 clusters seguro estarían de segundo lugar en ventas, son por así decirlo, las que van a la cabeza.</a:t>
            </a:r>
            <a:endParaRPr sz="2000">
              <a:solidFill>
                <a:schemeClr val="lt1"/>
              </a:solidFill>
            </a:endParaRPr>
          </a:p>
          <a:p>
            <a:pPr indent="0" lvl="0" marL="0" rtl="0" algn="ctr">
              <a:lnSpc>
                <a:spcPct val="115000"/>
              </a:lnSpc>
              <a:spcBef>
                <a:spcPts val="0"/>
              </a:spcBef>
              <a:spcAft>
                <a:spcPts val="0"/>
              </a:spcAft>
              <a:buClr>
                <a:schemeClr val="dk1"/>
              </a:buClr>
              <a:buSzPct val="55000"/>
              <a:buFont typeface="Arial"/>
              <a:buNone/>
            </a:pPr>
            <a:r>
              <a:t/>
            </a:r>
            <a:endParaRPr sz="2000">
              <a:solidFill>
                <a:schemeClr val="lt1"/>
              </a:solidFill>
            </a:endParaRPr>
          </a:p>
          <a:p>
            <a:pPr indent="0" lvl="0" marL="0" rtl="0" algn="ctr">
              <a:lnSpc>
                <a:spcPct val="115000"/>
              </a:lnSpc>
              <a:spcBef>
                <a:spcPts val="0"/>
              </a:spcBef>
              <a:spcAft>
                <a:spcPts val="0"/>
              </a:spcAft>
              <a:buNone/>
            </a:pPr>
            <a:r>
              <a:rPr lang="en-US" sz="2000">
                <a:solidFill>
                  <a:schemeClr val="lt1"/>
                </a:solidFill>
              </a:rPr>
              <a:t>5. "Blancatel","Cloraluz","Puro sol","Iberia" y, "Harpic", son las marcas menos exitosas dentro del grupo 2 </a:t>
            </a:r>
            <a:r>
              <a:rPr lang="en-US" sz="2000">
                <a:solidFill>
                  <a:schemeClr val="lt1"/>
                </a:solidFill>
              </a:rPr>
              <a:t>según</a:t>
            </a:r>
            <a:r>
              <a:rPr lang="en-US" sz="2000">
                <a:solidFill>
                  <a:schemeClr val="lt1"/>
                </a:solidFill>
              </a:rPr>
              <a:t> estos datos.</a:t>
            </a:r>
            <a:endParaRPr sz="2000">
              <a:solidFill>
                <a:schemeClr val="lt1"/>
              </a:solidFill>
            </a:endParaRPr>
          </a:p>
          <a:p>
            <a:pPr indent="0" lvl="0" marL="0" rtl="0" algn="ctr">
              <a:lnSpc>
                <a:spcPct val="115000"/>
              </a:lnSpc>
              <a:spcBef>
                <a:spcPts val="0"/>
              </a:spcBef>
              <a:spcAft>
                <a:spcPts val="0"/>
              </a:spcAft>
              <a:buClr>
                <a:schemeClr val="dk1"/>
              </a:buClr>
              <a:buSzPct val="55000"/>
              <a:buFont typeface="Arial"/>
              <a:buNone/>
            </a:pPr>
            <a:r>
              <a:t/>
            </a:r>
            <a:endParaRPr sz="2000">
              <a:solidFill>
                <a:schemeClr val="lt1"/>
              </a:solidFill>
            </a:endParaRPr>
          </a:p>
          <a:p>
            <a:pPr indent="0" lvl="0" marL="0" rtl="0" algn="ctr">
              <a:lnSpc>
                <a:spcPct val="115000"/>
              </a:lnSpc>
              <a:spcBef>
                <a:spcPts val="0"/>
              </a:spcBef>
              <a:spcAft>
                <a:spcPts val="0"/>
              </a:spcAft>
              <a:buClr>
                <a:schemeClr val="dk1"/>
              </a:buClr>
              <a:buSzPct val="55000"/>
              <a:buFont typeface="Arial"/>
              <a:buNone/>
            </a:pPr>
            <a:r>
              <a:rPr lang="en-US" sz="2000">
                <a:solidFill>
                  <a:schemeClr val="lt1"/>
                </a:solidFill>
              </a:rPr>
              <a:t>6. Habra que notar la descripción de los productos en donde parece, además que los más vendidos, son aquellos productos de tamaños más grandes, de presentaciones de 950 ml o 2 L.</a:t>
            </a:r>
            <a:endParaRPr sz="2000">
              <a:solidFill>
                <a:schemeClr val="lt1"/>
              </a:solidFill>
            </a:endParaRPr>
          </a:p>
          <a:p>
            <a:pPr indent="0" lvl="0" marL="0" rtl="0" algn="ctr">
              <a:lnSpc>
                <a:spcPct val="115000"/>
              </a:lnSpc>
              <a:spcBef>
                <a:spcPts val="0"/>
              </a:spcBef>
              <a:spcAft>
                <a:spcPts val="0"/>
              </a:spcAft>
              <a:buNone/>
            </a:pPr>
            <a:r>
              <a:t/>
            </a:r>
            <a:endParaRPr sz="20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080"/>
        </a:solidFill>
      </p:bgPr>
    </p:bg>
    <p:spTree>
      <p:nvGrpSpPr>
        <p:cNvPr id="218" name="Shape 218"/>
        <p:cNvGrpSpPr/>
        <p:nvPr/>
      </p:nvGrpSpPr>
      <p:grpSpPr>
        <a:xfrm>
          <a:off x="0" y="0"/>
          <a:ext cx="0" cy="0"/>
          <a:chOff x="0" y="0"/>
          <a:chExt cx="0" cy="0"/>
        </a:xfrm>
      </p:grpSpPr>
      <p:sp>
        <p:nvSpPr>
          <p:cNvPr id="219" name="Google Shape;219;g39fde8d6674_0_0"/>
          <p:cNvSpPr txBox="1"/>
          <p:nvPr>
            <p:ph type="ctrTitle"/>
          </p:nvPr>
        </p:nvSpPr>
        <p:spPr>
          <a:xfrm>
            <a:off x="685800" y="2254922"/>
            <a:ext cx="7772400" cy="888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4400"/>
              <a:buFont typeface="Calibri"/>
              <a:buNone/>
            </a:pPr>
            <a:r>
              <a:rPr b="1" lang="en-US" sz="3500">
                <a:solidFill>
                  <a:schemeClr val="lt1"/>
                </a:solidFill>
              </a:rPr>
              <a:t>SQL Querys</a:t>
            </a:r>
            <a:endParaRPr b="1" sz="3500">
              <a:solidFill>
                <a:schemeClr val="lt1"/>
              </a:solidFill>
            </a:endParaRPr>
          </a:p>
        </p:txBody>
      </p:sp>
      <p:sp>
        <p:nvSpPr>
          <p:cNvPr id="220" name="Google Shape;220;g39fde8d6674_0_0"/>
          <p:cNvSpPr txBox="1"/>
          <p:nvPr>
            <p:ph idx="1" type="subTitle"/>
          </p:nvPr>
        </p:nvSpPr>
        <p:spPr>
          <a:xfrm>
            <a:off x="685775" y="2937993"/>
            <a:ext cx="7772400" cy="2482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E73278"/>
              </a:buClr>
              <a:buSzPts val="2000"/>
              <a:buNone/>
            </a:pPr>
            <a:r>
              <a:rPr b="1" lang="en-US" sz="3500">
                <a:solidFill>
                  <a:srgbClr val="F69CDB"/>
                </a:solidFill>
                <a:latin typeface="Georgia"/>
                <a:ea typeface="Georgia"/>
                <a:cs typeface="Georgia"/>
                <a:sym typeface="Georgia"/>
              </a:rPr>
              <a:t>Obteniendo insights a partir de consultas especificas</a:t>
            </a:r>
            <a:endParaRPr b="1" sz="3500">
              <a:solidFill>
                <a:srgbClr val="F69CDB"/>
              </a:solidFill>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8"/>
          <p:cNvSpPr txBox="1"/>
          <p:nvPr>
            <p:ph idx="4294967295" type="ctrTitle"/>
          </p:nvPr>
        </p:nvSpPr>
        <p:spPr>
          <a:xfrm>
            <a:off x="-3350" y="396975"/>
            <a:ext cx="4575300" cy="888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4400"/>
              <a:buFont typeface="Calibri"/>
              <a:buNone/>
            </a:pPr>
            <a:r>
              <a:rPr b="1" lang="en-US" sz="3500">
                <a:solidFill>
                  <a:srgbClr val="008080"/>
                </a:solidFill>
                <a:latin typeface="Georgia"/>
                <a:ea typeface="Georgia"/>
                <a:cs typeface="Georgia"/>
                <a:sym typeface="Georgia"/>
              </a:rPr>
              <a:t>SQL Querys:</a:t>
            </a:r>
            <a:endParaRPr b="1" sz="3500">
              <a:solidFill>
                <a:srgbClr val="008080"/>
              </a:solidFill>
              <a:latin typeface="Georgia"/>
              <a:ea typeface="Georgia"/>
              <a:cs typeface="Georgia"/>
              <a:sym typeface="Georgia"/>
            </a:endParaRPr>
          </a:p>
        </p:txBody>
      </p:sp>
      <p:sp>
        <p:nvSpPr>
          <p:cNvPr id="226" name="Google Shape;226;p8"/>
          <p:cNvSpPr/>
          <p:nvPr/>
        </p:nvSpPr>
        <p:spPr>
          <a:xfrm>
            <a:off x="4572000" y="-12"/>
            <a:ext cx="4575300" cy="6858000"/>
          </a:xfrm>
          <a:prstGeom prst="rect">
            <a:avLst/>
          </a:prstGeom>
          <a:solidFill>
            <a:srgbClr val="00808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p:txBody>
      </p:sp>
      <p:sp>
        <p:nvSpPr>
          <p:cNvPr id="227" name="Google Shape;227;p8"/>
          <p:cNvSpPr txBox="1"/>
          <p:nvPr>
            <p:ph idx="4294967295" type="ctrTitle"/>
          </p:nvPr>
        </p:nvSpPr>
        <p:spPr>
          <a:xfrm>
            <a:off x="4571950" y="396975"/>
            <a:ext cx="4114800" cy="888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4400"/>
              <a:buFont typeface="Calibri"/>
              <a:buNone/>
            </a:pPr>
            <a:r>
              <a:rPr lang="en-US" sz="2500">
                <a:solidFill>
                  <a:schemeClr val="lt1"/>
                </a:solidFill>
              </a:rPr>
              <a:t>Confirmando información:</a:t>
            </a:r>
            <a:endParaRPr sz="2500">
              <a:solidFill>
                <a:schemeClr val="lt1"/>
              </a:solidFill>
            </a:endParaRPr>
          </a:p>
        </p:txBody>
      </p:sp>
      <p:sp>
        <p:nvSpPr>
          <p:cNvPr id="228" name="Google Shape;228;p8"/>
          <p:cNvSpPr txBox="1"/>
          <p:nvPr>
            <p:ph idx="1" type="body"/>
          </p:nvPr>
        </p:nvSpPr>
        <p:spPr>
          <a:xfrm>
            <a:off x="4572000" y="1230325"/>
            <a:ext cx="4380000" cy="5382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Hay 503 Productos.</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Como ya se sabía no hay productos de otra </a:t>
            </a:r>
            <a:r>
              <a:rPr lang="en-US" sz="1800">
                <a:solidFill>
                  <a:schemeClr val="lt1"/>
                </a:solidFill>
              </a:rPr>
              <a:t>categoría</a:t>
            </a:r>
            <a:r>
              <a:rPr lang="en-US" sz="1800">
                <a:solidFill>
                  <a:schemeClr val="lt1"/>
                </a:solidFill>
              </a:rPr>
              <a:t> que no sea la 1</a:t>
            </a:r>
            <a:endParaRPr sz="1800">
              <a:solidFill>
                <a:schemeClr val="lt1"/>
              </a:solidFill>
            </a:endParaRPr>
          </a:p>
          <a:p>
            <a:pPr indent="0" lvl="0" marL="34290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E</a:t>
            </a:r>
            <a:r>
              <a:rPr lang="en-US" sz="1800">
                <a:solidFill>
                  <a:schemeClr val="lt1"/>
                </a:solidFill>
              </a:rPr>
              <a:t>xisten  7 Segmentos diferentes, con 5 diferentes </a:t>
            </a:r>
            <a:r>
              <a:rPr lang="en-US" sz="1800">
                <a:solidFill>
                  <a:schemeClr val="lt1"/>
                </a:solidFill>
              </a:rPr>
              <a:t>formatos</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Existen 122002 registros de ventas.</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Existe 7 Regiones registradas.</a:t>
            </a:r>
            <a:endParaRPr sz="1800">
              <a:solidFill>
                <a:schemeClr val="lt1"/>
              </a:solidFill>
            </a:endParaRPr>
          </a:p>
        </p:txBody>
      </p:sp>
      <p:pic>
        <p:nvPicPr>
          <p:cNvPr id="229" name="Google Shape;229;p8"/>
          <p:cNvPicPr preferRelativeResize="0"/>
          <p:nvPr/>
        </p:nvPicPr>
        <p:blipFill>
          <a:blip r:embed="rId3">
            <a:alphaModFix/>
          </a:blip>
          <a:stretch>
            <a:fillRect/>
          </a:stretch>
        </p:blipFill>
        <p:spPr>
          <a:xfrm>
            <a:off x="748650" y="1437375"/>
            <a:ext cx="1581150" cy="523875"/>
          </a:xfrm>
          <a:prstGeom prst="rect">
            <a:avLst/>
          </a:prstGeom>
          <a:noFill/>
          <a:ln>
            <a:noFill/>
          </a:ln>
        </p:spPr>
      </p:pic>
      <p:pic>
        <p:nvPicPr>
          <p:cNvPr id="230" name="Google Shape;230;p8"/>
          <p:cNvPicPr preferRelativeResize="0"/>
          <p:nvPr/>
        </p:nvPicPr>
        <p:blipFill>
          <a:blip r:embed="rId4">
            <a:alphaModFix/>
          </a:blip>
          <a:stretch>
            <a:fillRect/>
          </a:stretch>
        </p:blipFill>
        <p:spPr>
          <a:xfrm>
            <a:off x="2584125" y="1456425"/>
            <a:ext cx="1733550" cy="485775"/>
          </a:xfrm>
          <a:prstGeom prst="rect">
            <a:avLst/>
          </a:prstGeom>
          <a:noFill/>
          <a:ln>
            <a:noFill/>
          </a:ln>
        </p:spPr>
      </p:pic>
      <p:pic>
        <p:nvPicPr>
          <p:cNvPr id="231" name="Google Shape;231;p8"/>
          <p:cNvPicPr preferRelativeResize="0"/>
          <p:nvPr/>
        </p:nvPicPr>
        <p:blipFill>
          <a:blip r:embed="rId5">
            <a:alphaModFix/>
          </a:blip>
          <a:stretch>
            <a:fillRect/>
          </a:stretch>
        </p:blipFill>
        <p:spPr>
          <a:xfrm>
            <a:off x="753500" y="2113650"/>
            <a:ext cx="1600200" cy="561975"/>
          </a:xfrm>
          <a:prstGeom prst="rect">
            <a:avLst/>
          </a:prstGeom>
          <a:noFill/>
          <a:ln>
            <a:noFill/>
          </a:ln>
        </p:spPr>
      </p:pic>
      <p:pic>
        <p:nvPicPr>
          <p:cNvPr id="232" name="Google Shape;232;p8"/>
          <p:cNvPicPr preferRelativeResize="0"/>
          <p:nvPr/>
        </p:nvPicPr>
        <p:blipFill>
          <a:blip r:embed="rId6">
            <a:alphaModFix/>
          </a:blip>
          <a:stretch>
            <a:fillRect/>
          </a:stretch>
        </p:blipFill>
        <p:spPr>
          <a:xfrm>
            <a:off x="152400" y="2828025"/>
            <a:ext cx="2819400" cy="276225"/>
          </a:xfrm>
          <a:prstGeom prst="rect">
            <a:avLst/>
          </a:prstGeom>
          <a:noFill/>
          <a:ln>
            <a:noFill/>
          </a:ln>
        </p:spPr>
      </p:pic>
      <p:pic>
        <p:nvPicPr>
          <p:cNvPr id="233" name="Google Shape;233;p8"/>
          <p:cNvPicPr preferRelativeResize="0"/>
          <p:nvPr/>
        </p:nvPicPr>
        <p:blipFill>
          <a:blip r:embed="rId7">
            <a:alphaModFix/>
          </a:blip>
          <a:stretch>
            <a:fillRect/>
          </a:stretch>
        </p:blipFill>
        <p:spPr>
          <a:xfrm>
            <a:off x="753488" y="3537038"/>
            <a:ext cx="1209675" cy="1533525"/>
          </a:xfrm>
          <a:prstGeom prst="rect">
            <a:avLst/>
          </a:prstGeom>
          <a:noFill/>
          <a:ln>
            <a:noFill/>
          </a:ln>
        </p:spPr>
      </p:pic>
      <p:pic>
        <p:nvPicPr>
          <p:cNvPr id="234" name="Google Shape;234;p8"/>
          <p:cNvPicPr preferRelativeResize="0"/>
          <p:nvPr/>
        </p:nvPicPr>
        <p:blipFill>
          <a:blip r:embed="rId8">
            <a:alphaModFix/>
          </a:blip>
          <a:stretch>
            <a:fillRect/>
          </a:stretch>
        </p:blipFill>
        <p:spPr>
          <a:xfrm>
            <a:off x="1750775" y="3182525"/>
            <a:ext cx="2714625" cy="276225"/>
          </a:xfrm>
          <a:prstGeom prst="rect">
            <a:avLst/>
          </a:prstGeom>
          <a:noFill/>
          <a:ln>
            <a:noFill/>
          </a:ln>
        </p:spPr>
      </p:pic>
      <p:pic>
        <p:nvPicPr>
          <p:cNvPr id="235" name="Google Shape;235;p8"/>
          <p:cNvPicPr preferRelativeResize="0"/>
          <p:nvPr/>
        </p:nvPicPr>
        <p:blipFill>
          <a:blip r:embed="rId9">
            <a:alphaModFix/>
          </a:blip>
          <a:stretch>
            <a:fillRect/>
          </a:stretch>
        </p:blipFill>
        <p:spPr>
          <a:xfrm>
            <a:off x="2353700" y="3537050"/>
            <a:ext cx="1019175" cy="1190625"/>
          </a:xfrm>
          <a:prstGeom prst="rect">
            <a:avLst/>
          </a:prstGeom>
          <a:noFill/>
          <a:ln>
            <a:noFill/>
          </a:ln>
        </p:spPr>
      </p:pic>
      <p:pic>
        <p:nvPicPr>
          <p:cNvPr id="236" name="Google Shape;236;p8"/>
          <p:cNvPicPr preferRelativeResize="0"/>
          <p:nvPr/>
        </p:nvPicPr>
        <p:blipFill>
          <a:blip r:embed="rId10">
            <a:alphaModFix/>
          </a:blip>
          <a:stretch>
            <a:fillRect/>
          </a:stretch>
        </p:blipFill>
        <p:spPr>
          <a:xfrm>
            <a:off x="152400" y="5222963"/>
            <a:ext cx="2190750" cy="219075"/>
          </a:xfrm>
          <a:prstGeom prst="rect">
            <a:avLst/>
          </a:prstGeom>
          <a:noFill/>
          <a:ln>
            <a:noFill/>
          </a:ln>
        </p:spPr>
      </p:pic>
      <p:pic>
        <p:nvPicPr>
          <p:cNvPr id="237" name="Google Shape;237;p8"/>
          <p:cNvPicPr preferRelativeResize="0"/>
          <p:nvPr/>
        </p:nvPicPr>
        <p:blipFill>
          <a:blip r:embed="rId11">
            <a:alphaModFix/>
          </a:blip>
          <a:stretch>
            <a:fillRect/>
          </a:stretch>
        </p:blipFill>
        <p:spPr>
          <a:xfrm>
            <a:off x="2584125" y="5160463"/>
            <a:ext cx="1704975" cy="457200"/>
          </a:xfrm>
          <a:prstGeom prst="rect">
            <a:avLst/>
          </a:prstGeom>
          <a:noFill/>
          <a:ln>
            <a:noFill/>
          </a:ln>
        </p:spPr>
      </p:pic>
      <p:pic>
        <p:nvPicPr>
          <p:cNvPr id="238" name="Google Shape;238;p8"/>
          <p:cNvPicPr preferRelativeResize="0"/>
          <p:nvPr/>
        </p:nvPicPr>
        <p:blipFill>
          <a:blip r:embed="rId12">
            <a:alphaModFix/>
          </a:blip>
          <a:stretch>
            <a:fillRect/>
          </a:stretch>
        </p:blipFill>
        <p:spPr>
          <a:xfrm>
            <a:off x="152400" y="5770063"/>
            <a:ext cx="1666875" cy="533400"/>
          </a:xfrm>
          <a:prstGeom prst="rect">
            <a:avLst/>
          </a:prstGeom>
          <a:noFill/>
          <a:ln>
            <a:noFill/>
          </a:ln>
        </p:spPr>
      </p:pic>
      <p:pic>
        <p:nvPicPr>
          <p:cNvPr id="239" name="Google Shape;239;p8"/>
          <p:cNvPicPr preferRelativeResize="0"/>
          <p:nvPr/>
        </p:nvPicPr>
        <p:blipFill>
          <a:blip r:embed="rId13">
            <a:alphaModFix/>
          </a:blip>
          <a:stretch>
            <a:fillRect/>
          </a:stretch>
        </p:blipFill>
        <p:spPr>
          <a:xfrm>
            <a:off x="2457450" y="5770075"/>
            <a:ext cx="1285093" cy="88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9fde8d6674_0_19"/>
          <p:cNvSpPr txBox="1"/>
          <p:nvPr>
            <p:ph idx="4294967295" type="ctrTitle"/>
          </p:nvPr>
        </p:nvSpPr>
        <p:spPr>
          <a:xfrm>
            <a:off x="-3350" y="233039"/>
            <a:ext cx="4575300" cy="888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4400"/>
              <a:buFont typeface="Calibri"/>
              <a:buNone/>
            </a:pPr>
            <a:r>
              <a:rPr b="1" lang="en-US" sz="3500">
                <a:solidFill>
                  <a:srgbClr val="E73278"/>
                </a:solidFill>
                <a:latin typeface="Georgia"/>
                <a:ea typeface="Georgia"/>
                <a:cs typeface="Georgia"/>
                <a:sym typeface="Georgia"/>
              </a:rPr>
              <a:t>SQL Querys:</a:t>
            </a:r>
            <a:endParaRPr b="1" sz="3500">
              <a:solidFill>
                <a:srgbClr val="E73278"/>
              </a:solidFill>
              <a:latin typeface="Georgia"/>
              <a:ea typeface="Georgia"/>
              <a:cs typeface="Georgia"/>
              <a:sym typeface="Georgia"/>
            </a:endParaRPr>
          </a:p>
        </p:txBody>
      </p:sp>
      <p:sp>
        <p:nvSpPr>
          <p:cNvPr id="245" name="Google Shape;245;g39fde8d6674_0_19"/>
          <p:cNvSpPr/>
          <p:nvPr/>
        </p:nvSpPr>
        <p:spPr>
          <a:xfrm>
            <a:off x="5032500" y="0"/>
            <a:ext cx="4114800" cy="6858000"/>
          </a:xfrm>
          <a:prstGeom prst="rect">
            <a:avLst/>
          </a:prstGeom>
          <a:solidFill>
            <a:srgbClr val="E7327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p:txBody>
      </p:sp>
      <p:sp>
        <p:nvSpPr>
          <p:cNvPr id="246" name="Google Shape;246;g39fde8d6674_0_19"/>
          <p:cNvSpPr txBox="1"/>
          <p:nvPr>
            <p:ph idx="4294967295" type="ctrTitle"/>
          </p:nvPr>
        </p:nvSpPr>
        <p:spPr>
          <a:xfrm>
            <a:off x="5032500" y="287675"/>
            <a:ext cx="3654000" cy="888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4400"/>
              <a:buFont typeface="Calibri"/>
              <a:buNone/>
            </a:pPr>
            <a:r>
              <a:rPr lang="en-US" sz="2500">
                <a:solidFill>
                  <a:schemeClr val="lt1"/>
                </a:solidFill>
              </a:rPr>
              <a:t>Hallazgos más profundos</a:t>
            </a:r>
            <a:r>
              <a:rPr lang="en-US" sz="2500">
                <a:solidFill>
                  <a:schemeClr val="lt1"/>
                </a:solidFill>
              </a:rPr>
              <a:t>:</a:t>
            </a:r>
            <a:endParaRPr sz="2500">
              <a:solidFill>
                <a:schemeClr val="lt1"/>
              </a:solidFill>
            </a:endParaRPr>
          </a:p>
        </p:txBody>
      </p:sp>
      <p:sp>
        <p:nvSpPr>
          <p:cNvPr id="247" name="Google Shape;247;g39fde8d6674_0_19"/>
          <p:cNvSpPr txBox="1"/>
          <p:nvPr>
            <p:ph idx="1" type="body"/>
          </p:nvPr>
        </p:nvSpPr>
        <p:spPr>
          <a:xfrm>
            <a:off x="4969375" y="1066375"/>
            <a:ext cx="4114800" cy="55467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Esta tabla muestra el mayor ingreso obtenido, por región y por semana. Parece haber dos semanas presentes. Recordar que es un fragmento y la versión completa se encuentra en el archivo SQL</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Tiene registro de 80 semanas, cada año tiene 52, por lo tanto está menos de dos años</a:t>
            </a:r>
            <a:endParaRPr sz="1800">
              <a:solidFill>
                <a:schemeClr val="lt1"/>
              </a:solidFill>
            </a:endParaRPr>
          </a:p>
          <a:p>
            <a:pPr indent="0" lvl="0" marL="34290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Podemos Ver que el máximo de unidades vendidas en una semana, se lleva a cabo en la región Scanning México -- Coincide en la semana 22 tanto del año 2022 como del 2023.</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La consulta muestra el ranking de la Suma de ventas totales en todos los registros por REGION.</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p:txBody>
      </p:sp>
      <p:pic>
        <p:nvPicPr>
          <p:cNvPr id="248" name="Google Shape;248;g39fde8d6674_0_19"/>
          <p:cNvPicPr preferRelativeResize="0"/>
          <p:nvPr/>
        </p:nvPicPr>
        <p:blipFill>
          <a:blip r:embed="rId3">
            <a:alphaModFix/>
          </a:blip>
          <a:stretch>
            <a:fillRect/>
          </a:stretch>
        </p:blipFill>
        <p:spPr>
          <a:xfrm>
            <a:off x="152400" y="1066377"/>
            <a:ext cx="2457450" cy="685800"/>
          </a:xfrm>
          <a:prstGeom prst="rect">
            <a:avLst/>
          </a:prstGeom>
          <a:noFill/>
          <a:ln>
            <a:noFill/>
          </a:ln>
        </p:spPr>
      </p:pic>
      <p:pic>
        <p:nvPicPr>
          <p:cNvPr id="249" name="Google Shape;249;g39fde8d6674_0_19"/>
          <p:cNvPicPr preferRelativeResize="0"/>
          <p:nvPr/>
        </p:nvPicPr>
        <p:blipFill>
          <a:blip r:embed="rId4">
            <a:alphaModFix/>
          </a:blip>
          <a:stretch>
            <a:fillRect/>
          </a:stretch>
        </p:blipFill>
        <p:spPr>
          <a:xfrm>
            <a:off x="2219325" y="1259775"/>
            <a:ext cx="2750050" cy="1337862"/>
          </a:xfrm>
          <a:prstGeom prst="rect">
            <a:avLst/>
          </a:prstGeom>
          <a:noFill/>
          <a:ln>
            <a:noFill/>
          </a:ln>
        </p:spPr>
      </p:pic>
      <p:pic>
        <p:nvPicPr>
          <p:cNvPr id="250" name="Google Shape;250;g39fde8d6674_0_19"/>
          <p:cNvPicPr preferRelativeResize="0"/>
          <p:nvPr/>
        </p:nvPicPr>
        <p:blipFill>
          <a:blip r:embed="rId5">
            <a:alphaModFix/>
          </a:blip>
          <a:stretch>
            <a:fillRect/>
          </a:stretch>
        </p:blipFill>
        <p:spPr>
          <a:xfrm>
            <a:off x="152400" y="2641016"/>
            <a:ext cx="2066925" cy="342900"/>
          </a:xfrm>
          <a:prstGeom prst="rect">
            <a:avLst/>
          </a:prstGeom>
          <a:noFill/>
          <a:ln>
            <a:noFill/>
          </a:ln>
        </p:spPr>
      </p:pic>
      <p:pic>
        <p:nvPicPr>
          <p:cNvPr id="251" name="Google Shape;251;g39fde8d6674_0_19"/>
          <p:cNvPicPr preferRelativeResize="0"/>
          <p:nvPr/>
        </p:nvPicPr>
        <p:blipFill>
          <a:blip r:embed="rId6">
            <a:alphaModFix/>
          </a:blip>
          <a:stretch>
            <a:fillRect/>
          </a:stretch>
        </p:blipFill>
        <p:spPr>
          <a:xfrm>
            <a:off x="2609850" y="2681987"/>
            <a:ext cx="1638300" cy="400050"/>
          </a:xfrm>
          <a:prstGeom prst="rect">
            <a:avLst/>
          </a:prstGeom>
          <a:noFill/>
          <a:ln>
            <a:noFill/>
          </a:ln>
        </p:spPr>
      </p:pic>
      <p:pic>
        <p:nvPicPr>
          <p:cNvPr id="252" name="Google Shape;252;g39fde8d6674_0_19"/>
          <p:cNvPicPr preferRelativeResize="0"/>
          <p:nvPr/>
        </p:nvPicPr>
        <p:blipFill>
          <a:blip r:embed="rId7">
            <a:alphaModFix/>
          </a:blip>
          <a:stretch>
            <a:fillRect/>
          </a:stretch>
        </p:blipFill>
        <p:spPr>
          <a:xfrm>
            <a:off x="152400" y="3207114"/>
            <a:ext cx="2409825" cy="704850"/>
          </a:xfrm>
          <a:prstGeom prst="rect">
            <a:avLst/>
          </a:prstGeom>
          <a:noFill/>
          <a:ln>
            <a:noFill/>
          </a:ln>
        </p:spPr>
      </p:pic>
      <p:pic>
        <p:nvPicPr>
          <p:cNvPr id="253" name="Google Shape;253;g39fde8d6674_0_19"/>
          <p:cNvPicPr preferRelativeResize="0"/>
          <p:nvPr/>
        </p:nvPicPr>
        <p:blipFill>
          <a:blip r:embed="rId8">
            <a:alphaModFix/>
          </a:blip>
          <a:stretch>
            <a:fillRect/>
          </a:stretch>
        </p:blipFill>
        <p:spPr>
          <a:xfrm>
            <a:off x="2053350" y="3968732"/>
            <a:ext cx="2750050" cy="1085550"/>
          </a:xfrm>
          <a:prstGeom prst="rect">
            <a:avLst/>
          </a:prstGeom>
          <a:noFill/>
          <a:ln>
            <a:noFill/>
          </a:ln>
        </p:spPr>
      </p:pic>
      <p:pic>
        <p:nvPicPr>
          <p:cNvPr id="254" name="Google Shape;254;g39fde8d6674_0_19"/>
          <p:cNvPicPr preferRelativeResize="0"/>
          <p:nvPr/>
        </p:nvPicPr>
        <p:blipFill>
          <a:blip r:embed="rId9">
            <a:alphaModFix/>
          </a:blip>
          <a:stretch>
            <a:fillRect/>
          </a:stretch>
        </p:blipFill>
        <p:spPr>
          <a:xfrm>
            <a:off x="152400" y="4874214"/>
            <a:ext cx="2137255" cy="943398"/>
          </a:xfrm>
          <a:prstGeom prst="rect">
            <a:avLst/>
          </a:prstGeom>
          <a:noFill/>
          <a:ln>
            <a:noFill/>
          </a:ln>
        </p:spPr>
      </p:pic>
      <p:pic>
        <p:nvPicPr>
          <p:cNvPr id="255" name="Google Shape;255;g39fde8d6674_0_19"/>
          <p:cNvPicPr preferRelativeResize="0"/>
          <p:nvPr/>
        </p:nvPicPr>
        <p:blipFill>
          <a:blip r:embed="rId10">
            <a:alphaModFix/>
          </a:blip>
          <a:stretch>
            <a:fillRect/>
          </a:stretch>
        </p:blipFill>
        <p:spPr>
          <a:xfrm>
            <a:off x="1711825" y="5693881"/>
            <a:ext cx="3257550" cy="1114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9fde8d6674_0_48"/>
          <p:cNvSpPr txBox="1"/>
          <p:nvPr>
            <p:ph idx="4294967295" type="ctrTitle"/>
          </p:nvPr>
        </p:nvSpPr>
        <p:spPr>
          <a:xfrm>
            <a:off x="-3350" y="396975"/>
            <a:ext cx="4575300" cy="888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4400"/>
              <a:buFont typeface="Calibri"/>
              <a:buNone/>
            </a:pPr>
            <a:r>
              <a:rPr b="1" lang="en-US" sz="3500">
                <a:solidFill>
                  <a:srgbClr val="008080"/>
                </a:solidFill>
                <a:latin typeface="Georgia"/>
                <a:ea typeface="Georgia"/>
                <a:cs typeface="Georgia"/>
                <a:sym typeface="Georgia"/>
              </a:rPr>
              <a:t>SQL Querys:</a:t>
            </a:r>
            <a:endParaRPr b="1" sz="3500">
              <a:solidFill>
                <a:srgbClr val="008080"/>
              </a:solidFill>
              <a:latin typeface="Georgia"/>
              <a:ea typeface="Georgia"/>
              <a:cs typeface="Georgia"/>
              <a:sym typeface="Georgia"/>
            </a:endParaRPr>
          </a:p>
        </p:txBody>
      </p:sp>
      <p:sp>
        <p:nvSpPr>
          <p:cNvPr id="261" name="Google Shape;261;g39fde8d6674_0_48"/>
          <p:cNvSpPr/>
          <p:nvPr/>
        </p:nvSpPr>
        <p:spPr>
          <a:xfrm>
            <a:off x="4572000" y="-12"/>
            <a:ext cx="4575300" cy="6858000"/>
          </a:xfrm>
          <a:prstGeom prst="rect">
            <a:avLst/>
          </a:prstGeom>
          <a:solidFill>
            <a:srgbClr val="00808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p:txBody>
      </p:sp>
      <p:sp>
        <p:nvSpPr>
          <p:cNvPr id="262" name="Google Shape;262;g39fde8d6674_0_48"/>
          <p:cNvSpPr txBox="1"/>
          <p:nvPr>
            <p:ph idx="4294967295" type="ctrTitle"/>
          </p:nvPr>
        </p:nvSpPr>
        <p:spPr>
          <a:xfrm>
            <a:off x="4571950" y="396975"/>
            <a:ext cx="4114800" cy="888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4400"/>
              <a:buFont typeface="Calibri"/>
              <a:buNone/>
            </a:pPr>
            <a:r>
              <a:rPr lang="en-US" sz="2500">
                <a:solidFill>
                  <a:schemeClr val="lt1"/>
                </a:solidFill>
              </a:rPr>
              <a:t>Top de Ventas por año y Región</a:t>
            </a:r>
            <a:r>
              <a:rPr lang="en-US" sz="2500">
                <a:solidFill>
                  <a:schemeClr val="lt1"/>
                </a:solidFill>
              </a:rPr>
              <a:t>:</a:t>
            </a:r>
            <a:endParaRPr sz="2500">
              <a:solidFill>
                <a:schemeClr val="lt1"/>
              </a:solidFill>
            </a:endParaRPr>
          </a:p>
        </p:txBody>
      </p:sp>
      <p:sp>
        <p:nvSpPr>
          <p:cNvPr id="263" name="Google Shape;263;g39fde8d6674_0_48"/>
          <p:cNvSpPr txBox="1"/>
          <p:nvPr>
            <p:ph idx="1" type="body"/>
          </p:nvPr>
        </p:nvSpPr>
        <p:spPr>
          <a:xfrm>
            <a:off x="4572000" y="1476225"/>
            <a:ext cx="4380000" cy="5136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Esta consulta nos despliega una tabla con el Ranking limitado a las 3 mejores semanas en cuanto a unidades de venta, mostrando sin embargo, el año y la Región en que han sucedido dicho top de ventas. En ambos años y en ambos rankings, fueron las mismas áreas las que obtuvieron mayores valores de venta. Resultado como ganador absoluto el área Total Autos Scanning México en el año 2022.</a:t>
            </a:r>
            <a:endParaRPr sz="1800">
              <a:solidFill>
                <a:schemeClr val="lt1"/>
              </a:solidFill>
            </a:endParaRPr>
          </a:p>
          <a:p>
            <a:pPr indent="0" lvl="0" marL="34290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A través de los Querys es fácil obtener todo tipo de información escondida en las diferentes tablas y relacionarlas entre sí.</a:t>
            </a:r>
            <a:endParaRPr sz="1800">
              <a:solidFill>
                <a:schemeClr val="lt1"/>
              </a:solidFill>
            </a:endParaRPr>
          </a:p>
        </p:txBody>
      </p:sp>
      <p:pic>
        <p:nvPicPr>
          <p:cNvPr id="264" name="Google Shape;264;g39fde8d6674_0_48"/>
          <p:cNvPicPr preferRelativeResize="0"/>
          <p:nvPr/>
        </p:nvPicPr>
        <p:blipFill>
          <a:blip r:embed="rId3">
            <a:alphaModFix/>
          </a:blip>
          <a:stretch>
            <a:fillRect/>
          </a:stretch>
        </p:blipFill>
        <p:spPr>
          <a:xfrm>
            <a:off x="152400" y="2093120"/>
            <a:ext cx="4267200" cy="1951719"/>
          </a:xfrm>
          <a:prstGeom prst="rect">
            <a:avLst/>
          </a:prstGeom>
          <a:noFill/>
          <a:ln>
            <a:noFill/>
          </a:ln>
        </p:spPr>
      </p:pic>
      <p:pic>
        <p:nvPicPr>
          <p:cNvPr id="265" name="Google Shape;265;g39fde8d6674_0_48"/>
          <p:cNvPicPr preferRelativeResize="0"/>
          <p:nvPr/>
        </p:nvPicPr>
        <p:blipFill>
          <a:blip r:embed="rId4">
            <a:alphaModFix/>
          </a:blip>
          <a:stretch>
            <a:fillRect/>
          </a:stretch>
        </p:blipFill>
        <p:spPr>
          <a:xfrm>
            <a:off x="207400" y="4287074"/>
            <a:ext cx="4114800" cy="1182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3278"/>
        </a:solidFill>
      </p:bgPr>
    </p:bg>
    <p:spTree>
      <p:nvGrpSpPr>
        <p:cNvPr id="269" name="Shape 269"/>
        <p:cNvGrpSpPr/>
        <p:nvPr/>
      </p:nvGrpSpPr>
      <p:grpSpPr>
        <a:xfrm>
          <a:off x="0" y="0"/>
          <a:ext cx="0" cy="0"/>
          <a:chOff x="0" y="0"/>
          <a:chExt cx="0" cy="0"/>
        </a:xfrm>
      </p:grpSpPr>
      <p:sp>
        <p:nvSpPr>
          <p:cNvPr id="270" name="Google Shape;270;g39fde8d6674_0_70"/>
          <p:cNvSpPr txBox="1"/>
          <p:nvPr>
            <p:ph type="ctrTitle"/>
          </p:nvPr>
        </p:nvSpPr>
        <p:spPr>
          <a:xfrm>
            <a:off x="685800" y="2254922"/>
            <a:ext cx="7772400" cy="888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4400"/>
              <a:buFont typeface="Calibri"/>
              <a:buNone/>
            </a:pPr>
            <a:r>
              <a:rPr b="1" lang="en-US" sz="3500">
                <a:solidFill>
                  <a:schemeClr val="lt1"/>
                </a:solidFill>
              </a:rPr>
              <a:t>Visualización de Datos</a:t>
            </a:r>
            <a:endParaRPr b="1" sz="3500">
              <a:solidFill>
                <a:schemeClr val="lt1"/>
              </a:solidFill>
            </a:endParaRPr>
          </a:p>
        </p:txBody>
      </p:sp>
      <p:sp>
        <p:nvSpPr>
          <p:cNvPr id="271" name="Google Shape;271;g39fde8d6674_0_70"/>
          <p:cNvSpPr txBox="1"/>
          <p:nvPr>
            <p:ph idx="1" type="subTitle"/>
          </p:nvPr>
        </p:nvSpPr>
        <p:spPr>
          <a:xfrm>
            <a:off x="685775" y="2937993"/>
            <a:ext cx="7772400" cy="2482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008080"/>
              </a:buClr>
              <a:buSzPts val="3200"/>
              <a:buFont typeface="Calibri"/>
              <a:buNone/>
            </a:pPr>
            <a:r>
              <a:rPr b="1" lang="en-US" sz="4400">
                <a:solidFill>
                  <a:srgbClr val="A2EAEA"/>
                </a:solidFill>
                <a:latin typeface="Georgia"/>
                <a:ea typeface="Georgia"/>
                <a:cs typeface="Georgia"/>
                <a:sym typeface="Georgia"/>
              </a:rPr>
              <a:t>Dashboard Interactivo (Power BI)</a:t>
            </a:r>
            <a:endParaRPr b="1" sz="4400">
              <a:solidFill>
                <a:srgbClr val="A2EAEA"/>
              </a:solidFill>
              <a:latin typeface="Georgia"/>
              <a:ea typeface="Georgia"/>
              <a:cs typeface="Georgia"/>
              <a:sym typeface="Georg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9fde8d6674_0_78"/>
          <p:cNvSpPr txBox="1"/>
          <p:nvPr>
            <p:ph type="title"/>
          </p:nvPr>
        </p:nvSpPr>
        <p:spPr>
          <a:xfrm>
            <a:off x="519127" y="602527"/>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200">
                <a:solidFill>
                  <a:srgbClr val="008080"/>
                </a:solidFill>
                <a:latin typeface="Georgia"/>
                <a:ea typeface="Georgia"/>
                <a:cs typeface="Georgia"/>
                <a:sym typeface="Georgia"/>
              </a:rPr>
              <a:t>Sobre el Tablero: </a:t>
            </a:r>
            <a:endParaRPr b="1" sz="3200">
              <a:solidFill>
                <a:srgbClr val="008080"/>
              </a:solidFill>
              <a:latin typeface="Georgia"/>
              <a:ea typeface="Georgia"/>
              <a:cs typeface="Georgia"/>
              <a:sym typeface="Georgia"/>
            </a:endParaRPr>
          </a:p>
          <a:p>
            <a:pPr indent="0" lvl="0" marL="0" rtl="0" algn="l">
              <a:spcBef>
                <a:spcPts val="0"/>
              </a:spcBef>
              <a:spcAft>
                <a:spcPts val="0"/>
              </a:spcAft>
              <a:buClr>
                <a:srgbClr val="008080"/>
              </a:buClr>
              <a:buSzPts val="3200"/>
              <a:buFont typeface="Calibri"/>
              <a:buNone/>
            </a:pPr>
            <a:r>
              <a:rPr b="1" lang="en-US" sz="3200">
                <a:solidFill>
                  <a:srgbClr val="E73278"/>
                </a:solidFill>
                <a:latin typeface="Georgia"/>
                <a:ea typeface="Georgia"/>
                <a:cs typeface="Georgia"/>
                <a:sym typeface="Georgia"/>
              </a:rPr>
              <a:t>Guía de lectura e interpretación</a:t>
            </a:r>
            <a:endParaRPr b="1">
              <a:solidFill>
                <a:srgbClr val="E73278"/>
              </a:solidFill>
              <a:latin typeface="Georgia"/>
              <a:ea typeface="Georgia"/>
              <a:cs typeface="Georgia"/>
              <a:sym typeface="Georgia"/>
            </a:endParaRPr>
          </a:p>
        </p:txBody>
      </p:sp>
      <p:pic>
        <p:nvPicPr>
          <p:cNvPr id="277" name="Google Shape;277;g39fde8d6674_0_78"/>
          <p:cNvPicPr preferRelativeResize="0"/>
          <p:nvPr/>
        </p:nvPicPr>
        <p:blipFill>
          <a:blip r:embed="rId3">
            <a:alphaModFix/>
          </a:blip>
          <a:stretch>
            <a:fillRect/>
          </a:stretch>
        </p:blipFill>
        <p:spPr>
          <a:xfrm>
            <a:off x="178802" y="1920850"/>
            <a:ext cx="4637825" cy="3016300"/>
          </a:xfrm>
          <a:prstGeom prst="rect">
            <a:avLst/>
          </a:prstGeom>
          <a:noFill/>
          <a:ln>
            <a:noFill/>
          </a:ln>
        </p:spPr>
      </p:pic>
      <p:pic>
        <p:nvPicPr>
          <p:cNvPr id="278" name="Google Shape;278;g39fde8d6674_0_78"/>
          <p:cNvPicPr preferRelativeResize="0"/>
          <p:nvPr/>
        </p:nvPicPr>
        <p:blipFill>
          <a:blip r:embed="rId4">
            <a:alphaModFix/>
          </a:blip>
          <a:stretch>
            <a:fillRect/>
          </a:stretch>
        </p:blipFill>
        <p:spPr>
          <a:xfrm>
            <a:off x="4969025" y="1919300"/>
            <a:ext cx="4016775" cy="3113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9"/>
          <p:cNvSpPr txBox="1"/>
          <p:nvPr>
            <p:ph type="title"/>
          </p:nvPr>
        </p:nvSpPr>
        <p:spPr>
          <a:xfrm>
            <a:off x="519125" y="205724"/>
            <a:ext cx="8229600" cy="956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000">
                <a:solidFill>
                  <a:srgbClr val="E73278"/>
                </a:solidFill>
                <a:latin typeface="Georgia"/>
                <a:ea typeface="Georgia"/>
                <a:cs typeface="Georgia"/>
                <a:sym typeface="Georgia"/>
              </a:rPr>
              <a:t>Dashboard interactivo Pag 1:</a:t>
            </a:r>
            <a:endParaRPr b="1" sz="3000">
              <a:solidFill>
                <a:srgbClr val="E73278"/>
              </a:solidFill>
              <a:latin typeface="Georgia"/>
              <a:ea typeface="Georgia"/>
              <a:cs typeface="Georgia"/>
              <a:sym typeface="Georgia"/>
            </a:endParaRPr>
          </a:p>
        </p:txBody>
      </p:sp>
      <p:pic>
        <p:nvPicPr>
          <p:cNvPr id="284" name="Google Shape;284;p9" title="vista_general.JPG"/>
          <p:cNvPicPr preferRelativeResize="0"/>
          <p:nvPr/>
        </p:nvPicPr>
        <p:blipFill>
          <a:blip r:embed="rId3">
            <a:alphaModFix/>
          </a:blip>
          <a:stretch>
            <a:fillRect/>
          </a:stretch>
        </p:blipFill>
        <p:spPr>
          <a:xfrm>
            <a:off x="141638" y="1338350"/>
            <a:ext cx="8860725" cy="50940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9fde8d6674_0_91"/>
          <p:cNvSpPr txBox="1"/>
          <p:nvPr>
            <p:ph type="title"/>
          </p:nvPr>
        </p:nvSpPr>
        <p:spPr>
          <a:xfrm>
            <a:off x="519125" y="205724"/>
            <a:ext cx="8229600" cy="9564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3000">
                <a:solidFill>
                  <a:srgbClr val="E73278"/>
                </a:solidFill>
                <a:latin typeface="Georgia"/>
                <a:ea typeface="Georgia"/>
                <a:cs typeface="Georgia"/>
                <a:sym typeface="Georgia"/>
              </a:rPr>
              <a:t>Dashboard interactivo Pag 2:</a:t>
            </a:r>
            <a:endParaRPr b="1" sz="3000">
              <a:solidFill>
                <a:srgbClr val="E73278"/>
              </a:solidFill>
              <a:latin typeface="Georgia"/>
              <a:ea typeface="Georgia"/>
              <a:cs typeface="Georgia"/>
              <a:sym typeface="Georgia"/>
            </a:endParaRPr>
          </a:p>
        </p:txBody>
      </p:sp>
      <p:pic>
        <p:nvPicPr>
          <p:cNvPr id="290" name="Google Shape;290;g39fde8d6674_0_91" title="exploracion_productos.JPG"/>
          <p:cNvPicPr preferRelativeResize="0"/>
          <p:nvPr/>
        </p:nvPicPr>
        <p:blipFill>
          <a:blip r:embed="rId3">
            <a:alphaModFix/>
          </a:blip>
          <a:stretch>
            <a:fillRect/>
          </a:stretch>
        </p:blipFill>
        <p:spPr>
          <a:xfrm>
            <a:off x="152400" y="1314524"/>
            <a:ext cx="8839201" cy="497478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080"/>
        </a:solidFill>
      </p:bgPr>
    </p:bg>
    <p:spTree>
      <p:nvGrpSpPr>
        <p:cNvPr id="294" name="Shape 294"/>
        <p:cNvGrpSpPr/>
        <p:nvPr/>
      </p:nvGrpSpPr>
      <p:grpSpPr>
        <a:xfrm>
          <a:off x="0" y="0"/>
          <a:ext cx="0" cy="0"/>
          <a:chOff x="0" y="0"/>
          <a:chExt cx="0" cy="0"/>
        </a:xfrm>
      </p:grpSpPr>
      <p:sp>
        <p:nvSpPr>
          <p:cNvPr id="295" name="Google Shape;295;g39fde8d6674_0_97"/>
          <p:cNvSpPr txBox="1"/>
          <p:nvPr>
            <p:ph type="ctrTitle"/>
          </p:nvPr>
        </p:nvSpPr>
        <p:spPr>
          <a:xfrm>
            <a:off x="685800" y="2254922"/>
            <a:ext cx="7772400" cy="888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4400"/>
              <a:buFont typeface="Calibri"/>
              <a:buNone/>
            </a:pPr>
            <a:r>
              <a:rPr b="1" lang="en-US" sz="3500">
                <a:solidFill>
                  <a:schemeClr val="lt1"/>
                </a:solidFill>
              </a:rPr>
              <a:t>Predicciones de Ventas:</a:t>
            </a:r>
            <a:endParaRPr b="1" sz="3500">
              <a:solidFill>
                <a:schemeClr val="lt1"/>
              </a:solidFill>
            </a:endParaRPr>
          </a:p>
        </p:txBody>
      </p:sp>
      <p:sp>
        <p:nvSpPr>
          <p:cNvPr id="296" name="Google Shape;296;g39fde8d6674_0_97"/>
          <p:cNvSpPr txBox="1"/>
          <p:nvPr>
            <p:ph idx="4294967295" type="title"/>
          </p:nvPr>
        </p:nvSpPr>
        <p:spPr>
          <a:xfrm>
            <a:off x="457200" y="3142913"/>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3200"/>
              <a:buFont typeface="Calibri"/>
              <a:buNone/>
            </a:pPr>
            <a:r>
              <a:rPr b="1" lang="en-US" sz="3200">
                <a:solidFill>
                  <a:srgbClr val="F69CDB"/>
                </a:solidFill>
                <a:latin typeface="Georgia"/>
                <a:ea typeface="Georgia"/>
                <a:cs typeface="Georgia"/>
                <a:sym typeface="Georgia"/>
              </a:rPr>
              <a:t>Modelo de Regresión </a:t>
            </a:r>
            <a:r>
              <a:rPr b="1" lang="en-US" sz="3200">
                <a:solidFill>
                  <a:srgbClr val="F69CDB"/>
                </a:solidFill>
                <a:latin typeface="Georgia"/>
                <a:ea typeface="Georgia"/>
                <a:cs typeface="Georgia"/>
                <a:sym typeface="Georgia"/>
              </a:rPr>
              <a:t>(SARIMAX)</a:t>
            </a:r>
            <a:endParaRPr b="1">
              <a:solidFill>
                <a:srgbClr val="F69CDB"/>
              </a:solidFill>
              <a:latin typeface="Georgia"/>
              <a:ea typeface="Georgia"/>
              <a:cs typeface="Georgia"/>
              <a:sym typeface="Georgi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2EAEA"/>
        </a:solidFill>
      </p:bgPr>
    </p:bg>
    <p:spTree>
      <p:nvGrpSpPr>
        <p:cNvPr id="300" name="Shape 300"/>
        <p:cNvGrpSpPr/>
        <p:nvPr/>
      </p:nvGrpSpPr>
      <p:grpSpPr>
        <a:xfrm>
          <a:off x="0" y="0"/>
          <a:ext cx="0" cy="0"/>
          <a:chOff x="0" y="0"/>
          <a:chExt cx="0" cy="0"/>
        </a:xfrm>
      </p:grpSpPr>
      <p:sp>
        <p:nvSpPr>
          <p:cNvPr id="301" name="Google Shape;301;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3200"/>
              <a:buFont typeface="Calibri"/>
              <a:buNone/>
            </a:pPr>
            <a:r>
              <a:rPr b="1" lang="en-US" sz="3200">
                <a:solidFill>
                  <a:srgbClr val="E73278"/>
                </a:solidFill>
                <a:latin typeface="Georgia"/>
                <a:ea typeface="Georgia"/>
                <a:cs typeface="Georgia"/>
                <a:sym typeface="Georgia"/>
              </a:rPr>
              <a:t>Predicción de Ventas (SARIMAX)</a:t>
            </a:r>
            <a:endParaRPr b="1">
              <a:solidFill>
                <a:srgbClr val="E73278"/>
              </a:solidFill>
              <a:latin typeface="Georgia"/>
              <a:ea typeface="Georgia"/>
              <a:cs typeface="Georgia"/>
              <a:sym typeface="Georgia"/>
            </a:endParaRPr>
          </a:p>
        </p:txBody>
      </p:sp>
      <p:pic>
        <p:nvPicPr>
          <p:cNvPr id="302" name="Google Shape;302;p10"/>
          <p:cNvPicPr preferRelativeResize="0"/>
          <p:nvPr/>
        </p:nvPicPr>
        <p:blipFill rotWithShape="1">
          <a:blip r:embed="rId3">
            <a:alphaModFix/>
          </a:blip>
          <a:srcRect b="50683" l="0" r="0" t="0"/>
          <a:stretch/>
        </p:blipFill>
        <p:spPr>
          <a:xfrm>
            <a:off x="3114675" y="1436257"/>
            <a:ext cx="5572125" cy="1009925"/>
          </a:xfrm>
          <a:prstGeom prst="rect">
            <a:avLst/>
          </a:prstGeom>
          <a:noFill/>
          <a:ln>
            <a:noFill/>
          </a:ln>
        </p:spPr>
      </p:pic>
      <p:sp>
        <p:nvSpPr>
          <p:cNvPr id="303" name="Google Shape;303;p10"/>
          <p:cNvSpPr txBox="1"/>
          <p:nvPr/>
        </p:nvSpPr>
        <p:spPr>
          <a:xfrm>
            <a:off x="269875" y="1544525"/>
            <a:ext cx="2718600" cy="49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División de datos entre entrenamiento y muestra.  Se </a:t>
            </a:r>
            <a:r>
              <a:rPr lang="en-US" sz="1500">
                <a:solidFill>
                  <a:schemeClr val="dk1"/>
                </a:solidFill>
                <a:latin typeface="Calibri"/>
                <a:ea typeface="Calibri"/>
                <a:cs typeface="Calibri"/>
                <a:sym typeface="Calibri"/>
              </a:rPr>
              <a:t>tomó</a:t>
            </a:r>
            <a:r>
              <a:rPr lang="en-US" sz="1500">
                <a:solidFill>
                  <a:schemeClr val="dk1"/>
                </a:solidFill>
                <a:latin typeface="Calibri"/>
                <a:ea typeface="Calibri"/>
                <a:cs typeface="Calibri"/>
                <a:sym typeface="Calibri"/>
              </a:rPr>
              <a:t> una muestra del 20%</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Reducción del DataFrame a solo el producto mpas vendido: Cloralex el rendidor Botella de 2L.</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Agrupando por fecha. Las cifras de ventas han sido sumadas. Por lo que la predicción no será por área, sino por producto.</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Definiendo las variables</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Creación del Modelo con ayuda de statstools.tsa</a:t>
            </a:r>
            <a:endParaRPr sz="1500">
              <a:solidFill>
                <a:schemeClr val="dk1"/>
              </a:solidFill>
              <a:latin typeface="Calibri"/>
              <a:ea typeface="Calibri"/>
              <a:cs typeface="Calibri"/>
              <a:sym typeface="Calibri"/>
            </a:endParaRPr>
          </a:p>
        </p:txBody>
      </p:sp>
      <p:pic>
        <p:nvPicPr>
          <p:cNvPr id="304" name="Google Shape;304;p10"/>
          <p:cNvPicPr preferRelativeResize="0"/>
          <p:nvPr/>
        </p:nvPicPr>
        <p:blipFill>
          <a:blip r:embed="rId4">
            <a:alphaModFix/>
          </a:blip>
          <a:stretch>
            <a:fillRect/>
          </a:stretch>
        </p:blipFill>
        <p:spPr>
          <a:xfrm>
            <a:off x="3114675" y="3732225"/>
            <a:ext cx="3267075" cy="552450"/>
          </a:xfrm>
          <a:prstGeom prst="rect">
            <a:avLst/>
          </a:prstGeom>
          <a:noFill/>
          <a:ln>
            <a:noFill/>
          </a:ln>
        </p:spPr>
      </p:pic>
      <p:pic>
        <p:nvPicPr>
          <p:cNvPr id="305" name="Google Shape;305;p10"/>
          <p:cNvPicPr preferRelativeResize="0"/>
          <p:nvPr/>
        </p:nvPicPr>
        <p:blipFill>
          <a:blip r:embed="rId5">
            <a:alphaModFix/>
          </a:blip>
          <a:stretch>
            <a:fillRect/>
          </a:stretch>
        </p:blipFill>
        <p:spPr>
          <a:xfrm>
            <a:off x="3140875" y="4437075"/>
            <a:ext cx="2352675" cy="514350"/>
          </a:xfrm>
          <a:prstGeom prst="rect">
            <a:avLst/>
          </a:prstGeom>
          <a:noFill/>
          <a:ln>
            <a:noFill/>
          </a:ln>
        </p:spPr>
      </p:pic>
      <p:pic>
        <p:nvPicPr>
          <p:cNvPr id="306" name="Google Shape;306;p10"/>
          <p:cNvPicPr preferRelativeResize="0"/>
          <p:nvPr/>
        </p:nvPicPr>
        <p:blipFill>
          <a:blip r:embed="rId6">
            <a:alphaModFix/>
          </a:blip>
          <a:stretch>
            <a:fillRect/>
          </a:stretch>
        </p:blipFill>
        <p:spPr>
          <a:xfrm>
            <a:off x="3140875" y="5103825"/>
            <a:ext cx="3905250" cy="438150"/>
          </a:xfrm>
          <a:prstGeom prst="rect">
            <a:avLst/>
          </a:prstGeom>
          <a:noFill/>
          <a:ln>
            <a:noFill/>
          </a:ln>
        </p:spPr>
      </p:pic>
      <p:pic>
        <p:nvPicPr>
          <p:cNvPr id="307" name="Google Shape;307;p10"/>
          <p:cNvPicPr preferRelativeResize="0"/>
          <p:nvPr/>
        </p:nvPicPr>
        <p:blipFill>
          <a:blip r:embed="rId7">
            <a:alphaModFix/>
          </a:blip>
          <a:stretch>
            <a:fillRect/>
          </a:stretch>
        </p:blipFill>
        <p:spPr>
          <a:xfrm>
            <a:off x="3140875" y="5694375"/>
            <a:ext cx="4629150" cy="904875"/>
          </a:xfrm>
          <a:prstGeom prst="rect">
            <a:avLst/>
          </a:prstGeom>
          <a:noFill/>
          <a:ln>
            <a:noFill/>
          </a:ln>
        </p:spPr>
      </p:pic>
      <p:pic>
        <p:nvPicPr>
          <p:cNvPr id="308" name="Google Shape;308;p10"/>
          <p:cNvPicPr preferRelativeResize="0"/>
          <p:nvPr/>
        </p:nvPicPr>
        <p:blipFill rotWithShape="1">
          <a:blip r:embed="rId3">
            <a:alphaModFix/>
          </a:blip>
          <a:srcRect b="0" l="0" r="0" t="88571"/>
          <a:stretch/>
        </p:blipFill>
        <p:spPr>
          <a:xfrm>
            <a:off x="3144123" y="3416139"/>
            <a:ext cx="5572125" cy="234050"/>
          </a:xfrm>
          <a:prstGeom prst="rect">
            <a:avLst/>
          </a:prstGeom>
          <a:noFill/>
          <a:ln>
            <a:noFill/>
          </a:ln>
        </p:spPr>
      </p:pic>
      <p:pic>
        <p:nvPicPr>
          <p:cNvPr id="309" name="Google Shape;309;p10"/>
          <p:cNvPicPr preferRelativeResize="0"/>
          <p:nvPr/>
        </p:nvPicPr>
        <p:blipFill>
          <a:blip r:embed="rId8">
            <a:alphaModFix/>
          </a:blip>
          <a:stretch>
            <a:fillRect/>
          </a:stretch>
        </p:blipFill>
        <p:spPr>
          <a:xfrm>
            <a:off x="3140875" y="2278031"/>
            <a:ext cx="5029200" cy="1162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9fde8d6674_0_112"/>
          <p:cNvSpPr/>
          <p:nvPr/>
        </p:nvSpPr>
        <p:spPr>
          <a:xfrm>
            <a:off x="0" y="0"/>
            <a:ext cx="4114800" cy="6858000"/>
          </a:xfrm>
          <a:prstGeom prst="rect">
            <a:avLst/>
          </a:prstGeom>
          <a:solidFill>
            <a:srgbClr val="E7327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p:txBody>
      </p:sp>
      <p:sp>
        <p:nvSpPr>
          <p:cNvPr id="315" name="Google Shape;315;g39fde8d6674_0_112"/>
          <p:cNvSpPr txBox="1"/>
          <p:nvPr>
            <p:ph idx="1" type="body"/>
          </p:nvPr>
        </p:nvSpPr>
        <p:spPr>
          <a:xfrm>
            <a:off x="0" y="1366925"/>
            <a:ext cx="4114800" cy="5546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Se calcularon las predicciones para la variable Y de muestra, para así realizar comparaciones</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Se convirtio en DataFrame para una primera comparación visual</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Visto de una mejor forma, el grafico demuestra que las predicciones no solo siguen la tendencia, sino que son casi exactas.</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p:txBody>
      </p:sp>
      <p:sp>
        <p:nvSpPr>
          <p:cNvPr id="316" name="Google Shape;316;g39fde8d6674_0_112"/>
          <p:cNvSpPr txBox="1"/>
          <p:nvPr>
            <p:ph type="title"/>
          </p:nvPr>
        </p:nvSpPr>
        <p:spPr>
          <a:xfrm>
            <a:off x="-3" y="81975"/>
            <a:ext cx="5025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8080"/>
              </a:buClr>
              <a:buSzPts val="3200"/>
              <a:buFont typeface="Calibri"/>
              <a:buNone/>
            </a:pPr>
            <a:r>
              <a:rPr b="1" lang="en-US" sz="2500">
                <a:solidFill>
                  <a:schemeClr val="lt1"/>
                </a:solidFill>
                <a:latin typeface="Georgia"/>
                <a:ea typeface="Georgia"/>
                <a:cs typeface="Georgia"/>
                <a:sym typeface="Georgia"/>
              </a:rPr>
              <a:t>P</a:t>
            </a:r>
            <a:r>
              <a:rPr b="1" lang="en-US" sz="2500">
                <a:solidFill>
                  <a:schemeClr val="lt1"/>
                </a:solidFill>
                <a:latin typeface="Georgia"/>
                <a:ea typeface="Georgia"/>
                <a:cs typeface="Georgia"/>
                <a:sym typeface="Georgia"/>
              </a:rPr>
              <a:t>redicción de Ventas (SARIMAX)</a:t>
            </a:r>
            <a:endParaRPr b="1" sz="2500">
              <a:solidFill>
                <a:schemeClr val="lt1"/>
              </a:solidFill>
              <a:latin typeface="Georgia"/>
              <a:ea typeface="Georgia"/>
              <a:cs typeface="Georgia"/>
              <a:sym typeface="Georgia"/>
            </a:endParaRPr>
          </a:p>
        </p:txBody>
      </p:sp>
      <p:pic>
        <p:nvPicPr>
          <p:cNvPr id="317" name="Google Shape;317;g39fde8d6674_0_112"/>
          <p:cNvPicPr preferRelativeResize="0"/>
          <p:nvPr/>
        </p:nvPicPr>
        <p:blipFill>
          <a:blip r:embed="rId3">
            <a:alphaModFix/>
          </a:blip>
          <a:stretch>
            <a:fillRect/>
          </a:stretch>
        </p:blipFill>
        <p:spPr>
          <a:xfrm>
            <a:off x="4267200" y="1295400"/>
            <a:ext cx="3590925" cy="685800"/>
          </a:xfrm>
          <a:prstGeom prst="rect">
            <a:avLst/>
          </a:prstGeom>
          <a:noFill/>
          <a:ln>
            <a:noFill/>
          </a:ln>
        </p:spPr>
      </p:pic>
      <p:pic>
        <p:nvPicPr>
          <p:cNvPr id="318" name="Google Shape;318;g39fde8d6674_0_112"/>
          <p:cNvPicPr preferRelativeResize="0"/>
          <p:nvPr/>
        </p:nvPicPr>
        <p:blipFill>
          <a:blip r:embed="rId4">
            <a:alphaModFix/>
          </a:blip>
          <a:stretch>
            <a:fillRect/>
          </a:stretch>
        </p:blipFill>
        <p:spPr>
          <a:xfrm>
            <a:off x="4267200" y="2406830"/>
            <a:ext cx="2905125" cy="1571625"/>
          </a:xfrm>
          <a:prstGeom prst="rect">
            <a:avLst/>
          </a:prstGeom>
          <a:noFill/>
          <a:ln>
            <a:noFill/>
          </a:ln>
        </p:spPr>
      </p:pic>
      <p:pic>
        <p:nvPicPr>
          <p:cNvPr id="319" name="Google Shape;319;g39fde8d6674_0_112"/>
          <p:cNvPicPr preferRelativeResize="0"/>
          <p:nvPr/>
        </p:nvPicPr>
        <p:blipFill>
          <a:blip r:embed="rId5">
            <a:alphaModFix/>
          </a:blip>
          <a:stretch>
            <a:fillRect/>
          </a:stretch>
        </p:blipFill>
        <p:spPr>
          <a:xfrm>
            <a:off x="4269075" y="4404080"/>
            <a:ext cx="4724400" cy="206269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9fde8d6674_0_131"/>
          <p:cNvSpPr/>
          <p:nvPr/>
        </p:nvSpPr>
        <p:spPr>
          <a:xfrm>
            <a:off x="0" y="0"/>
            <a:ext cx="4114800" cy="6858000"/>
          </a:xfrm>
          <a:prstGeom prst="rect">
            <a:avLst/>
          </a:prstGeom>
          <a:solidFill>
            <a:srgbClr val="00808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100"/>
              <a:buFont typeface="Arial"/>
              <a:buNone/>
            </a:pPr>
            <a:r>
              <a:t/>
            </a:r>
            <a:endParaRPr>
              <a:solidFill>
                <a:schemeClr val="lt1"/>
              </a:solidFill>
              <a:latin typeface="Roboto"/>
              <a:ea typeface="Roboto"/>
              <a:cs typeface="Roboto"/>
              <a:sym typeface="Roboto"/>
            </a:endParaRPr>
          </a:p>
        </p:txBody>
      </p:sp>
      <p:sp>
        <p:nvSpPr>
          <p:cNvPr id="325" name="Google Shape;325;g39fde8d6674_0_131"/>
          <p:cNvSpPr txBox="1"/>
          <p:nvPr>
            <p:ph idx="1" type="body"/>
          </p:nvPr>
        </p:nvSpPr>
        <p:spPr>
          <a:xfrm>
            <a:off x="0" y="1366925"/>
            <a:ext cx="4114800" cy="5546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Se calcularon las predicciones para la variable Y de muestra, para así realizar comparaciones</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Se convirtio en DataFrame para una primera comparación visual</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342900" lvl="0" marL="342900" rtl="0" algn="l">
              <a:spcBef>
                <a:spcPts val="0"/>
              </a:spcBef>
              <a:spcAft>
                <a:spcPts val="0"/>
              </a:spcAft>
              <a:buClr>
                <a:schemeClr val="lt1"/>
              </a:buClr>
              <a:buSzPts val="1800"/>
              <a:buChar char="•"/>
            </a:pPr>
            <a:r>
              <a:rPr lang="en-US" sz="1800">
                <a:solidFill>
                  <a:schemeClr val="lt1"/>
                </a:solidFill>
              </a:rPr>
              <a:t>Visto de una mejor forma, el </a:t>
            </a:r>
            <a:r>
              <a:rPr lang="en-US" sz="1800">
                <a:solidFill>
                  <a:schemeClr val="lt1"/>
                </a:solidFill>
              </a:rPr>
              <a:t>gráfico</a:t>
            </a:r>
            <a:r>
              <a:rPr lang="en-US" sz="1800">
                <a:solidFill>
                  <a:schemeClr val="lt1"/>
                </a:solidFill>
              </a:rPr>
              <a:t> demuestra que las predicciones no solo siguen la tendencia, sino que son casi exactas.</a:t>
            </a:r>
            <a:endParaRPr sz="1800">
              <a:solidFill>
                <a:schemeClr val="lt1"/>
              </a:solidFill>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p:txBody>
      </p:sp>
      <p:sp>
        <p:nvSpPr>
          <p:cNvPr id="326" name="Google Shape;326;g39fde8d6674_0_131"/>
          <p:cNvSpPr txBox="1"/>
          <p:nvPr>
            <p:ph type="title"/>
          </p:nvPr>
        </p:nvSpPr>
        <p:spPr>
          <a:xfrm>
            <a:off x="0" y="287700"/>
            <a:ext cx="4114800" cy="12840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8080"/>
              </a:buClr>
              <a:buSzPct val="96969"/>
              <a:buFont typeface="Calibri"/>
              <a:buNone/>
            </a:pPr>
            <a:r>
              <a:rPr b="1" lang="en-US" sz="3300">
                <a:solidFill>
                  <a:schemeClr val="lt1"/>
                </a:solidFill>
                <a:latin typeface="Georgia"/>
                <a:ea typeface="Georgia"/>
                <a:cs typeface="Georgia"/>
                <a:sym typeface="Georgia"/>
              </a:rPr>
              <a:t>Predicción para los siguientes  2 meses:</a:t>
            </a:r>
            <a:endParaRPr sz="3300">
              <a:highlight>
                <a:srgbClr val="FFFFFF"/>
              </a:highlight>
              <a:latin typeface="Arial"/>
              <a:ea typeface="Arial"/>
              <a:cs typeface="Arial"/>
              <a:sym typeface="Arial"/>
            </a:endParaRPr>
          </a:p>
          <a:p>
            <a:pPr indent="0" lvl="0" marL="0" rtl="0" algn="l">
              <a:spcBef>
                <a:spcPts val="0"/>
              </a:spcBef>
              <a:spcAft>
                <a:spcPts val="0"/>
              </a:spcAft>
              <a:buClr>
                <a:srgbClr val="008080"/>
              </a:buClr>
              <a:buSzPct val="128000"/>
              <a:buFont typeface="Calibri"/>
              <a:buNone/>
            </a:pPr>
            <a:r>
              <a:t/>
            </a:r>
            <a:endParaRPr b="1" sz="2500">
              <a:solidFill>
                <a:schemeClr val="lt1"/>
              </a:solidFill>
              <a:latin typeface="Georgia"/>
              <a:ea typeface="Georgia"/>
              <a:cs typeface="Georgia"/>
              <a:sym typeface="Georgia"/>
            </a:endParaRPr>
          </a:p>
        </p:txBody>
      </p:sp>
      <p:pic>
        <p:nvPicPr>
          <p:cNvPr id="327" name="Google Shape;327;g39fde8d6674_0_131"/>
          <p:cNvPicPr preferRelativeResize="0"/>
          <p:nvPr/>
        </p:nvPicPr>
        <p:blipFill>
          <a:blip r:embed="rId3">
            <a:alphaModFix/>
          </a:blip>
          <a:stretch>
            <a:fillRect/>
          </a:stretch>
        </p:blipFill>
        <p:spPr>
          <a:xfrm>
            <a:off x="4267200" y="1295400"/>
            <a:ext cx="3590925" cy="685800"/>
          </a:xfrm>
          <a:prstGeom prst="rect">
            <a:avLst/>
          </a:prstGeom>
          <a:noFill/>
          <a:ln>
            <a:noFill/>
          </a:ln>
        </p:spPr>
      </p:pic>
      <p:pic>
        <p:nvPicPr>
          <p:cNvPr id="328" name="Google Shape;328;g39fde8d6674_0_131"/>
          <p:cNvPicPr preferRelativeResize="0"/>
          <p:nvPr/>
        </p:nvPicPr>
        <p:blipFill>
          <a:blip r:embed="rId4">
            <a:alphaModFix/>
          </a:blip>
          <a:stretch>
            <a:fillRect/>
          </a:stretch>
        </p:blipFill>
        <p:spPr>
          <a:xfrm>
            <a:off x="4267200" y="2406830"/>
            <a:ext cx="2905125" cy="1571625"/>
          </a:xfrm>
          <a:prstGeom prst="rect">
            <a:avLst/>
          </a:prstGeom>
          <a:noFill/>
          <a:ln>
            <a:noFill/>
          </a:ln>
        </p:spPr>
      </p:pic>
      <p:pic>
        <p:nvPicPr>
          <p:cNvPr id="329" name="Google Shape;329;g39fde8d6674_0_131"/>
          <p:cNvPicPr preferRelativeResize="0"/>
          <p:nvPr/>
        </p:nvPicPr>
        <p:blipFill>
          <a:blip r:embed="rId5">
            <a:alphaModFix/>
          </a:blip>
          <a:stretch>
            <a:fillRect/>
          </a:stretch>
        </p:blipFill>
        <p:spPr>
          <a:xfrm>
            <a:off x="4269075" y="4404080"/>
            <a:ext cx="4724400" cy="206269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080"/>
        </a:solidFill>
      </p:bgPr>
    </p:bg>
    <p:spTree>
      <p:nvGrpSpPr>
        <p:cNvPr id="333" name="Shape 333"/>
        <p:cNvGrpSpPr/>
        <p:nvPr/>
      </p:nvGrpSpPr>
      <p:grpSpPr>
        <a:xfrm>
          <a:off x="0" y="0"/>
          <a:ext cx="0" cy="0"/>
          <a:chOff x="0" y="0"/>
          <a:chExt cx="0" cy="0"/>
        </a:xfrm>
      </p:grpSpPr>
      <p:sp>
        <p:nvSpPr>
          <p:cNvPr id="334" name="Google Shape;334;g39fde8d6674_0_141"/>
          <p:cNvSpPr txBox="1"/>
          <p:nvPr>
            <p:ph type="title"/>
          </p:nvPr>
        </p:nvSpPr>
        <p:spPr>
          <a:xfrm>
            <a:off x="465300" y="223925"/>
            <a:ext cx="84084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8080"/>
              </a:buClr>
              <a:buSzPts val="3200"/>
              <a:buFont typeface="Calibri"/>
              <a:buNone/>
            </a:pPr>
            <a:r>
              <a:rPr b="1" lang="en-US" sz="3000">
                <a:solidFill>
                  <a:srgbClr val="F69CDB"/>
                </a:solidFill>
                <a:latin typeface="Georgia"/>
                <a:ea typeface="Georgia"/>
                <a:cs typeface="Georgia"/>
                <a:sym typeface="Georgia"/>
              </a:rPr>
              <a:t>Predicción para los siguientes  2 meses:</a:t>
            </a:r>
            <a:endParaRPr sz="3000">
              <a:solidFill>
                <a:srgbClr val="F69CDB"/>
              </a:solidFill>
              <a:highlight>
                <a:srgbClr val="FFFFFF"/>
              </a:highlight>
              <a:latin typeface="Arial"/>
              <a:ea typeface="Arial"/>
              <a:cs typeface="Arial"/>
              <a:sym typeface="Arial"/>
            </a:endParaRPr>
          </a:p>
          <a:p>
            <a:pPr indent="0" lvl="0" marL="0" rtl="0" algn="l">
              <a:spcBef>
                <a:spcPts val="0"/>
              </a:spcBef>
              <a:spcAft>
                <a:spcPts val="0"/>
              </a:spcAft>
              <a:buClr>
                <a:srgbClr val="008080"/>
              </a:buClr>
              <a:buSzPts val="3200"/>
              <a:buFont typeface="Calibri"/>
              <a:buNone/>
            </a:pPr>
            <a:r>
              <a:t/>
            </a:r>
            <a:endParaRPr b="1" sz="2500">
              <a:solidFill>
                <a:schemeClr val="lt1"/>
              </a:solidFill>
              <a:latin typeface="Georgia"/>
              <a:ea typeface="Georgia"/>
              <a:cs typeface="Georgia"/>
              <a:sym typeface="Georgia"/>
            </a:endParaRPr>
          </a:p>
        </p:txBody>
      </p:sp>
      <p:pic>
        <p:nvPicPr>
          <p:cNvPr id="335" name="Google Shape;335;g39fde8d6674_0_141"/>
          <p:cNvPicPr preferRelativeResize="0"/>
          <p:nvPr/>
        </p:nvPicPr>
        <p:blipFill>
          <a:blip r:embed="rId3">
            <a:alphaModFix/>
          </a:blip>
          <a:stretch>
            <a:fillRect/>
          </a:stretch>
        </p:blipFill>
        <p:spPr>
          <a:xfrm>
            <a:off x="465312" y="3128452"/>
            <a:ext cx="8213376" cy="3310625"/>
          </a:xfrm>
          <a:prstGeom prst="rect">
            <a:avLst/>
          </a:prstGeom>
          <a:noFill/>
          <a:ln>
            <a:noFill/>
          </a:ln>
        </p:spPr>
      </p:pic>
      <p:pic>
        <p:nvPicPr>
          <p:cNvPr id="336" name="Google Shape;336;g39fde8d6674_0_141"/>
          <p:cNvPicPr preferRelativeResize="0"/>
          <p:nvPr/>
        </p:nvPicPr>
        <p:blipFill>
          <a:blip r:embed="rId4">
            <a:alphaModFix/>
          </a:blip>
          <a:stretch>
            <a:fillRect/>
          </a:stretch>
        </p:blipFill>
        <p:spPr>
          <a:xfrm>
            <a:off x="693786" y="1902311"/>
            <a:ext cx="4261899" cy="1018625"/>
          </a:xfrm>
          <a:prstGeom prst="rect">
            <a:avLst/>
          </a:prstGeom>
          <a:noFill/>
          <a:ln>
            <a:noFill/>
          </a:ln>
        </p:spPr>
      </p:pic>
      <p:pic>
        <p:nvPicPr>
          <p:cNvPr id="337" name="Google Shape;337;g39fde8d6674_0_141"/>
          <p:cNvPicPr preferRelativeResize="0"/>
          <p:nvPr/>
        </p:nvPicPr>
        <p:blipFill>
          <a:blip r:embed="rId5">
            <a:alphaModFix/>
          </a:blip>
          <a:stretch>
            <a:fillRect/>
          </a:stretch>
        </p:blipFill>
        <p:spPr>
          <a:xfrm>
            <a:off x="5433850" y="1160987"/>
            <a:ext cx="3169450" cy="1361825"/>
          </a:xfrm>
          <a:prstGeom prst="rect">
            <a:avLst/>
          </a:prstGeom>
          <a:noFill/>
          <a:ln>
            <a:noFill/>
          </a:ln>
        </p:spPr>
      </p:pic>
      <p:sp>
        <p:nvSpPr>
          <p:cNvPr id="338" name="Google Shape;338;g39fde8d6674_0_141"/>
          <p:cNvSpPr txBox="1"/>
          <p:nvPr/>
        </p:nvSpPr>
        <p:spPr>
          <a:xfrm>
            <a:off x="680100" y="1052725"/>
            <a:ext cx="42618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lt1"/>
                </a:solidFill>
              </a:rPr>
              <a:t>Como no contamos con DATA para la variable X para los proximos 2 meses, tendriamos que simularla...</a:t>
            </a:r>
            <a:endParaRPr sz="1500">
              <a:solidFill>
                <a:schemeClr val="lt1"/>
              </a:solidFill>
            </a:endParaRPr>
          </a:p>
        </p:txBody>
      </p:sp>
      <p:sp>
        <p:nvSpPr>
          <p:cNvPr id="339" name="Google Shape;339;g39fde8d6674_0_141"/>
          <p:cNvSpPr txBox="1"/>
          <p:nvPr/>
        </p:nvSpPr>
        <p:spPr>
          <a:xfrm>
            <a:off x="5433775" y="2522800"/>
            <a:ext cx="316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lt1"/>
                </a:solidFill>
              </a:rPr>
              <a:t>*La tabla </a:t>
            </a:r>
            <a:r>
              <a:rPr lang="en-US" sz="1500">
                <a:solidFill>
                  <a:schemeClr val="lt1"/>
                </a:solidFill>
              </a:rPr>
              <a:t>completa</a:t>
            </a:r>
            <a:r>
              <a:rPr lang="en-US" sz="1500">
                <a:solidFill>
                  <a:schemeClr val="lt1"/>
                </a:solidFill>
              </a:rPr>
              <a:t> disponible en el archivo .ipynb</a:t>
            </a:r>
            <a:endParaRPr sz="15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3278"/>
        </a:solidFill>
      </p:bgPr>
    </p:bg>
    <p:spTree>
      <p:nvGrpSpPr>
        <p:cNvPr id="343" name="Shape 343"/>
        <p:cNvGrpSpPr/>
        <p:nvPr/>
      </p:nvGrpSpPr>
      <p:grpSpPr>
        <a:xfrm>
          <a:off x="0" y="0"/>
          <a:ext cx="0" cy="0"/>
          <a:chOff x="0" y="0"/>
          <a:chExt cx="0" cy="0"/>
        </a:xfrm>
      </p:grpSpPr>
      <p:sp>
        <p:nvSpPr>
          <p:cNvPr id="344" name="Google Shape;344;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3200"/>
              <a:buFont typeface="Calibri"/>
              <a:buNone/>
            </a:pPr>
            <a:r>
              <a:rPr b="1" lang="en-US" sz="3200">
                <a:solidFill>
                  <a:schemeClr val="lt1"/>
                </a:solidFill>
                <a:latin typeface="Georgia"/>
                <a:ea typeface="Georgia"/>
                <a:cs typeface="Georgia"/>
                <a:sym typeface="Georgia"/>
              </a:rPr>
              <a:t>Conclusiones y Próximos Pasos:</a:t>
            </a:r>
            <a:endParaRPr b="1">
              <a:solidFill>
                <a:schemeClr val="lt1"/>
              </a:solidFill>
              <a:latin typeface="Georgia"/>
              <a:ea typeface="Georgia"/>
              <a:cs typeface="Georgia"/>
              <a:sym typeface="Georgia"/>
            </a:endParaRPr>
          </a:p>
        </p:txBody>
      </p:sp>
      <p:sp>
        <p:nvSpPr>
          <p:cNvPr id="345" name="Google Shape;345;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None/>
            </a:pPr>
            <a:r>
              <a:rPr b="1" lang="en-US" sz="1600">
                <a:solidFill>
                  <a:schemeClr val="lt1"/>
                </a:solidFill>
              </a:rPr>
              <a:t>Ahora que se cuenta con todo el codigo e interpretación de la DATA, es momento de tomar decisiones, Existen las siguientes posibilidades:</a:t>
            </a:r>
            <a:endParaRPr b="1" sz="1600">
              <a:solidFill>
                <a:schemeClr val="lt1"/>
              </a:solidFill>
            </a:endParaRPr>
          </a:p>
          <a:p>
            <a:pPr indent="0" lvl="0" marL="0" rtl="0" algn="ctr">
              <a:spcBef>
                <a:spcPts val="0"/>
              </a:spcBef>
              <a:spcAft>
                <a:spcPts val="0"/>
              </a:spcAft>
              <a:buNone/>
            </a:pPr>
            <a:r>
              <a:t/>
            </a:r>
            <a:endParaRPr b="1" sz="1600">
              <a:solidFill>
                <a:schemeClr val="lt1"/>
              </a:solidFill>
            </a:endParaRPr>
          </a:p>
          <a:p>
            <a:pPr indent="0" lvl="0" marL="0" rtl="0" algn="ctr">
              <a:spcBef>
                <a:spcPts val="0"/>
              </a:spcBef>
              <a:spcAft>
                <a:spcPts val="0"/>
              </a:spcAft>
              <a:buNone/>
            </a:pPr>
            <a:r>
              <a:t/>
            </a:r>
            <a:endParaRPr sz="1500">
              <a:solidFill>
                <a:schemeClr val="lt1"/>
              </a:solidFill>
            </a:endParaRPr>
          </a:p>
          <a:p>
            <a:pPr indent="-323850" lvl="0" marL="457200" rtl="0" algn="ctr">
              <a:spcBef>
                <a:spcPts val="0"/>
              </a:spcBef>
              <a:spcAft>
                <a:spcPts val="0"/>
              </a:spcAft>
              <a:buClr>
                <a:schemeClr val="lt1"/>
              </a:buClr>
              <a:buSzPts val="1500"/>
              <a:buAutoNum type="arabicPeriod"/>
            </a:pPr>
            <a:r>
              <a:rPr lang="en-US" sz="1500">
                <a:solidFill>
                  <a:schemeClr val="lt1"/>
                </a:solidFill>
              </a:rPr>
              <a:t>Elegir un numero más amplo de Clusers y simplemente eliminar o modificar a los productos con mayores áreas de oportunidad.</a:t>
            </a:r>
            <a:endParaRPr sz="1500">
              <a:solidFill>
                <a:schemeClr val="lt1"/>
              </a:solidFill>
            </a:endParaRPr>
          </a:p>
          <a:p>
            <a:pPr indent="-323850" lvl="0" marL="457200" rtl="0" algn="ctr">
              <a:spcBef>
                <a:spcPts val="0"/>
              </a:spcBef>
              <a:spcAft>
                <a:spcPts val="0"/>
              </a:spcAft>
              <a:buClr>
                <a:schemeClr val="lt1"/>
              </a:buClr>
              <a:buSzPts val="1500"/>
              <a:buAutoNum type="arabicPeriod"/>
            </a:pPr>
            <a:r>
              <a:rPr lang="en-US" sz="1500">
                <a:solidFill>
                  <a:schemeClr val="lt1"/>
                </a:solidFill>
              </a:rPr>
              <a:t>Seleccionar los productos que sea necesarios para la predicción, siguiendo un criterio de selección más alineado con los objetivos.</a:t>
            </a:r>
            <a:endParaRPr sz="1500">
              <a:solidFill>
                <a:schemeClr val="lt1"/>
              </a:solidFill>
            </a:endParaRPr>
          </a:p>
          <a:p>
            <a:pPr indent="-323850" lvl="0" marL="457200" rtl="0" algn="ctr">
              <a:spcBef>
                <a:spcPts val="0"/>
              </a:spcBef>
              <a:spcAft>
                <a:spcPts val="0"/>
              </a:spcAft>
              <a:buClr>
                <a:schemeClr val="lt1"/>
              </a:buClr>
              <a:buSzPts val="1500"/>
              <a:buAutoNum type="arabicPeriod"/>
            </a:pPr>
            <a:r>
              <a:rPr lang="en-US" sz="1500">
                <a:solidFill>
                  <a:schemeClr val="lt1"/>
                </a:solidFill>
              </a:rPr>
              <a:t>En cuando al modelo predictivo. Ajustar siempre la Data de los datos de la variable X y realizar iteraciones que muestren diferentes posibles escenarios.</a:t>
            </a:r>
            <a:endParaRPr sz="1500">
              <a:solidFill>
                <a:schemeClr val="lt1"/>
              </a:solidFill>
            </a:endParaRPr>
          </a:p>
          <a:p>
            <a:pPr indent="-323850" lvl="0" marL="457200" rtl="0" algn="ctr">
              <a:spcBef>
                <a:spcPts val="0"/>
              </a:spcBef>
              <a:spcAft>
                <a:spcPts val="0"/>
              </a:spcAft>
              <a:buClr>
                <a:schemeClr val="lt1"/>
              </a:buClr>
              <a:buSzPts val="1500"/>
              <a:buAutoNum type="arabicPeriod"/>
            </a:pPr>
            <a:r>
              <a:rPr lang="en-US" sz="1500">
                <a:solidFill>
                  <a:schemeClr val="lt1"/>
                </a:solidFill>
              </a:rPr>
              <a:t>Actualizar DataFrames con fechas actuales</a:t>
            </a:r>
            <a:endParaRPr sz="1500">
              <a:solidFill>
                <a:schemeClr val="lt1"/>
              </a:solidFill>
            </a:endParaRPr>
          </a:p>
          <a:p>
            <a:pPr indent="-323850" lvl="0" marL="457200" rtl="0" algn="ctr">
              <a:spcBef>
                <a:spcPts val="0"/>
              </a:spcBef>
              <a:spcAft>
                <a:spcPts val="0"/>
              </a:spcAft>
              <a:buClr>
                <a:schemeClr val="lt1"/>
              </a:buClr>
              <a:buSzPts val="1500"/>
              <a:buAutoNum type="arabicPeriod"/>
            </a:pPr>
            <a:r>
              <a:rPr lang="en-US" sz="1500">
                <a:solidFill>
                  <a:schemeClr val="lt1"/>
                </a:solidFill>
              </a:rPr>
              <a:t>Tomar decisiones directivas acerca de los productos y cómo mejorar su venta, quiza cambiando el tamaño o el formato.</a:t>
            </a:r>
            <a:endParaRPr sz="1500">
              <a:solidFill>
                <a:schemeClr val="lt1"/>
              </a:solidFill>
            </a:endParaRPr>
          </a:p>
          <a:p>
            <a:pPr indent="-323850" lvl="0" marL="457200" rtl="0" algn="ctr">
              <a:spcBef>
                <a:spcPts val="0"/>
              </a:spcBef>
              <a:spcAft>
                <a:spcPts val="0"/>
              </a:spcAft>
              <a:buClr>
                <a:schemeClr val="lt1"/>
              </a:buClr>
              <a:buSzPts val="1500"/>
              <a:buAutoNum type="arabicPeriod"/>
            </a:pPr>
            <a:r>
              <a:rPr lang="en-US" sz="1500">
                <a:solidFill>
                  <a:schemeClr val="lt1"/>
                </a:solidFill>
              </a:rPr>
              <a:t>¿Existe algo mpas que tengan en común los productos ganadores que no sea visible en la Data?</a:t>
            </a:r>
            <a:endParaRPr sz="1500">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080"/>
        </a:solidFill>
      </p:bgPr>
    </p:bg>
    <p:spTree>
      <p:nvGrpSpPr>
        <p:cNvPr id="349" name="Shape 349"/>
        <p:cNvGrpSpPr/>
        <p:nvPr/>
      </p:nvGrpSpPr>
      <p:grpSpPr>
        <a:xfrm>
          <a:off x="0" y="0"/>
          <a:ext cx="0" cy="0"/>
          <a:chOff x="0" y="0"/>
          <a:chExt cx="0" cy="0"/>
        </a:xfrm>
      </p:grpSpPr>
      <p:sp>
        <p:nvSpPr>
          <p:cNvPr id="350" name="Google Shape;350;g39fde8d6674_0_157"/>
          <p:cNvSpPr txBox="1"/>
          <p:nvPr>
            <p:ph type="ctrTitle"/>
          </p:nvPr>
        </p:nvSpPr>
        <p:spPr>
          <a:xfrm>
            <a:off x="685800" y="1804100"/>
            <a:ext cx="7772400" cy="13389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8080"/>
              </a:buClr>
              <a:buSzPts val="4400"/>
              <a:buFont typeface="Calibri"/>
              <a:buNone/>
            </a:pPr>
            <a:r>
              <a:rPr b="1" lang="en-US" sz="2500">
                <a:solidFill>
                  <a:schemeClr val="lt1"/>
                </a:solidFill>
              </a:rPr>
              <a:t>Por la atención:</a:t>
            </a:r>
            <a:endParaRPr b="1" sz="2500">
              <a:solidFill>
                <a:schemeClr val="lt1"/>
              </a:solidFill>
            </a:endParaRPr>
          </a:p>
        </p:txBody>
      </p:sp>
      <p:sp>
        <p:nvSpPr>
          <p:cNvPr id="351" name="Google Shape;351;g39fde8d6674_0_157"/>
          <p:cNvSpPr txBox="1"/>
          <p:nvPr>
            <p:ph idx="1" type="subTitle"/>
          </p:nvPr>
        </p:nvSpPr>
        <p:spPr>
          <a:xfrm>
            <a:off x="685775" y="2623776"/>
            <a:ext cx="7772400" cy="27963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E73278"/>
              </a:buClr>
              <a:buSzPts val="2000"/>
              <a:buNone/>
            </a:pPr>
            <a:r>
              <a:rPr b="1" lang="en-US" sz="4400">
                <a:solidFill>
                  <a:srgbClr val="F69CDB"/>
                </a:solidFill>
                <a:latin typeface="Georgia"/>
                <a:ea typeface="Georgia"/>
                <a:cs typeface="Georgia"/>
                <a:sym typeface="Georgia"/>
              </a:rPr>
              <a:t>Gracias.</a:t>
            </a:r>
            <a:endParaRPr b="1" sz="4400">
              <a:solidFill>
                <a:srgbClr val="F69CDB"/>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